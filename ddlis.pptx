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74" r:id="rId4"/>
    <p:sldId id="261" r:id="rId5"/>
    <p:sldId id="273" r:id="rId6"/>
    <p:sldId id="260" r:id="rId7"/>
    <p:sldId id="266" r:id="rId8"/>
    <p:sldId id="258" r:id="rId9"/>
    <p:sldId id="259" r:id="rId10"/>
    <p:sldId id="267" r:id="rId11"/>
    <p:sldId id="262" r:id="rId12"/>
    <p:sldId id="268" r:id="rId13"/>
  </p:sldIdLst>
  <p:sldSz cx="18288000" cy="10287000"/>
  <p:notesSz cx="6858000" cy="9144000"/>
  <p:embeddedFontLst>
    <p:embeddedFont>
      <p:font typeface="ADLaM Display" panose="02010000000000000000" pitchFamily="2" charset="0"/>
      <p:regular r:id="rId14"/>
    </p:embeddedFont>
    <p:embeddedFont>
      <p:font typeface="Franklin Gothic Book" panose="020B0503020102020204" pitchFamily="34" charset="0"/>
      <p:regular r:id="rId15"/>
      <p:italic r:id="rId16"/>
    </p:embeddedFont>
    <p:embeddedFont>
      <p:font typeface="ISOCP3" panose="00000400000000000000" pitchFamily="2" charset="0"/>
      <p:regular r:id="rId17"/>
    </p:embeddedFont>
    <p:embeddedFont>
      <p:font typeface="ISOCT" panose="00000400000000000000" pitchFamily="2" charset="0"/>
      <p:regular r:id="rId18"/>
    </p:embeddedFont>
    <p:embeddedFont>
      <p:font typeface="Microsoft YaHei UI Light" panose="020B0502040204020203" pitchFamily="34" charset="-122"/>
      <p:regular r:id="rId19"/>
    </p:embeddedFont>
    <p:embeddedFont>
      <p:font typeface="TT Autonomous" panose="020B0604020202020204" charset="0"/>
      <p:regular r:id="rId20"/>
    </p:embeddedFont>
    <p:embeddedFont>
      <p:font typeface="TT Autonomous Bold" panose="020B0604020202020204" charset="0"/>
      <p:regular r:id="rId21"/>
    </p:embeddedFont>
    <p:embeddedFont>
      <p:font typeface="TT Hoves" panose="020B0604020202020204" charset="0"/>
      <p:regular r:id="rId22"/>
    </p:embeddedFont>
    <p:embeddedFont>
      <p:font typeface="TT Hoves Bold Italics"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94660" autoAdjust="0"/>
  </p:normalViewPr>
  <p:slideViewPr>
    <p:cSldViewPr>
      <p:cViewPr varScale="1">
        <p:scale>
          <a:sx n="44" d="100"/>
          <a:sy n="44" d="100"/>
        </p:scale>
        <p:origin x="158"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15.jpeg"/></Relationships>
</file>

<file path=ppt/slides/_rels/slide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1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7.xml"/><Relationship Id="rId4" Type="http://schemas.openxmlformats.org/officeDocument/2006/relationships/image" Target="../media/image24.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5" name="Group 5"/>
          <p:cNvGrpSpPr/>
          <p:nvPr/>
        </p:nvGrpSpPr>
        <p:grpSpPr>
          <a:xfrm>
            <a:off x="3543300" y="3771900"/>
            <a:ext cx="11315700" cy="6172200"/>
            <a:chOff x="0" y="0"/>
            <a:chExt cx="1939098" cy="846322"/>
          </a:xfrm>
        </p:grpSpPr>
        <p:sp>
          <p:nvSpPr>
            <p:cNvPr id="6" name="Freeform 6"/>
            <p:cNvSpPr/>
            <p:nvPr/>
          </p:nvSpPr>
          <p:spPr>
            <a:xfrm>
              <a:off x="0" y="0"/>
              <a:ext cx="1939098" cy="846328"/>
            </a:xfrm>
            <a:custGeom>
              <a:avLst/>
              <a:gdLst/>
              <a:ahLst/>
              <a:cxnLst/>
              <a:rect l="l" t="t" r="r" b="b"/>
              <a:pathLst>
                <a:path w="1939098" h="846328">
                  <a:moveTo>
                    <a:pt x="1843500" y="0"/>
                  </a:moveTo>
                  <a:lnTo>
                    <a:pt x="95598" y="0"/>
                  </a:lnTo>
                  <a:cubicBezTo>
                    <a:pt x="42801" y="0"/>
                    <a:pt x="0" y="42801"/>
                    <a:pt x="0" y="95598"/>
                  </a:cubicBezTo>
                  <a:lnTo>
                    <a:pt x="0" y="548408"/>
                  </a:lnTo>
                  <a:cubicBezTo>
                    <a:pt x="0" y="601205"/>
                    <a:pt x="42801" y="644006"/>
                    <a:pt x="95598" y="644006"/>
                  </a:cubicBezTo>
                  <a:lnTo>
                    <a:pt x="204343" y="644006"/>
                  </a:lnTo>
                  <a:cubicBezTo>
                    <a:pt x="231994" y="644005"/>
                    <a:pt x="258291" y="655978"/>
                    <a:pt x="276447" y="676833"/>
                  </a:cubicBezTo>
                  <a:lnTo>
                    <a:pt x="395420" y="813493"/>
                  </a:lnTo>
                  <a:cubicBezTo>
                    <a:pt x="413574" y="834352"/>
                    <a:pt x="439871" y="846327"/>
                    <a:pt x="467524" y="846328"/>
                  </a:cubicBezTo>
                  <a:lnTo>
                    <a:pt x="1471574" y="846328"/>
                  </a:lnTo>
                  <a:cubicBezTo>
                    <a:pt x="1499226" y="846328"/>
                    <a:pt x="1525523" y="834356"/>
                    <a:pt x="1543679" y="813500"/>
                  </a:cubicBezTo>
                  <a:lnTo>
                    <a:pt x="1662650" y="676840"/>
                  </a:lnTo>
                  <a:cubicBezTo>
                    <a:pt x="1680806" y="655984"/>
                    <a:pt x="1707103" y="644012"/>
                    <a:pt x="1734754" y="644012"/>
                  </a:cubicBezTo>
                  <a:lnTo>
                    <a:pt x="1843500" y="644012"/>
                  </a:lnTo>
                  <a:cubicBezTo>
                    <a:pt x="1896298" y="644012"/>
                    <a:pt x="1939098" y="601211"/>
                    <a:pt x="1939098" y="548414"/>
                  </a:cubicBezTo>
                  <a:lnTo>
                    <a:pt x="1939098" y="95598"/>
                  </a:lnTo>
                  <a:cubicBezTo>
                    <a:pt x="1939098" y="42801"/>
                    <a:pt x="1896298" y="0"/>
                    <a:pt x="1843500" y="0"/>
                  </a:cubicBezTo>
                  <a:close/>
                </a:path>
              </a:pathLst>
            </a:custGeom>
            <a:blipFill>
              <a:blip r:embed="rId2"/>
              <a:stretch>
                <a:fillRect t="-15298" b="-15298"/>
              </a:stretch>
            </a:blipFill>
          </p:spPr>
          <p:txBody>
            <a:bodyPr/>
            <a:lstStyle/>
            <a:p>
              <a:endParaRPr lang="en-IN" baseline="-25000"/>
            </a:p>
          </p:txBody>
        </p:sp>
      </p:grpSp>
      <p:sp>
        <p:nvSpPr>
          <p:cNvPr id="8" name="TextBox 8"/>
          <p:cNvSpPr txBox="1"/>
          <p:nvPr/>
        </p:nvSpPr>
        <p:spPr>
          <a:xfrm>
            <a:off x="2842210" y="1947905"/>
            <a:ext cx="12603580" cy="575503"/>
          </a:xfrm>
          <a:prstGeom prst="rect">
            <a:avLst/>
          </a:prstGeom>
        </p:spPr>
        <p:txBody>
          <a:bodyPr lIns="0" tIns="0" rIns="0" bIns="0" rtlCol="0" anchor="t">
            <a:spAutoFit/>
          </a:bodyPr>
          <a:lstStyle/>
          <a:p>
            <a:pPr marL="0" lvl="0" indent="0" algn="ctr">
              <a:lnSpc>
                <a:spcPts val="4367"/>
              </a:lnSpc>
            </a:pPr>
            <a:r>
              <a:rPr lang="en-US" sz="4367" b="1">
                <a:solidFill>
                  <a:srgbClr val="FFFFFF"/>
                </a:solidFill>
                <a:latin typeface="TT Autonomous Bold"/>
                <a:ea typeface="TT Autonomous Bold"/>
                <a:cs typeface="TT Autonomous Bold"/>
                <a:sym typeface="TT Autonomous Bold"/>
              </a:rPr>
              <a:t>DISTRIBUTED DEEP LEARNING</a:t>
            </a:r>
          </a:p>
        </p:txBody>
      </p:sp>
      <p:sp>
        <p:nvSpPr>
          <p:cNvPr id="9" name="TextBox 9"/>
          <p:cNvSpPr txBox="1"/>
          <p:nvPr/>
        </p:nvSpPr>
        <p:spPr>
          <a:xfrm>
            <a:off x="5487442" y="2634083"/>
            <a:ext cx="7313116" cy="523643"/>
          </a:xfrm>
          <a:prstGeom prst="rect">
            <a:avLst/>
          </a:prstGeom>
        </p:spPr>
        <p:txBody>
          <a:bodyPr lIns="0" tIns="0" rIns="0" bIns="0" rtlCol="0" anchor="t">
            <a:spAutoFit/>
          </a:bodyPr>
          <a:lstStyle/>
          <a:p>
            <a:pPr marL="0" lvl="0" indent="0" algn="ctr">
              <a:lnSpc>
                <a:spcPts val="3981"/>
              </a:lnSpc>
            </a:pPr>
            <a:r>
              <a:rPr lang="en-US" sz="3981">
                <a:solidFill>
                  <a:srgbClr val="FFFFFF"/>
                </a:solidFill>
                <a:latin typeface="TT Autonomous"/>
                <a:ea typeface="TT Autonomous"/>
                <a:cs typeface="TT Autonomous"/>
                <a:sym typeface="TT Autonomous"/>
              </a:rPr>
              <a:t>INFERENCE SERVER</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4159797"/>
            <a:ext cx="8115300" cy="5098503"/>
            <a:chOff x="0" y="0"/>
            <a:chExt cx="2137363" cy="1342816"/>
          </a:xfrm>
        </p:grpSpPr>
        <p:sp>
          <p:nvSpPr>
            <p:cNvPr id="3" name="Freeform 3"/>
            <p:cNvSpPr/>
            <p:nvPr/>
          </p:nvSpPr>
          <p:spPr>
            <a:xfrm>
              <a:off x="0" y="0"/>
              <a:ext cx="2137363" cy="1342816"/>
            </a:xfrm>
            <a:custGeom>
              <a:avLst/>
              <a:gdLst/>
              <a:ahLst/>
              <a:cxnLst/>
              <a:rect l="l" t="t" r="r" b="b"/>
              <a:pathLst>
                <a:path w="2137363" h="1342816">
                  <a:moveTo>
                    <a:pt x="33390" y="0"/>
                  </a:moveTo>
                  <a:lnTo>
                    <a:pt x="2103973" y="0"/>
                  </a:lnTo>
                  <a:cubicBezTo>
                    <a:pt x="2112829" y="0"/>
                    <a:pt x="2121321" y="3518"/>
                    <a:pt x="2127583" y="9780"/>
                  </a:cubicBezTo>
                  <a:cubicBezTo>
                    <a:pt x="2133845" y="16041"/>
                    <a:pt x="2137363" y="24534"/>
                    <a:pt x="2137363" y="33390"/>
                  </a:cubicBezTo>
                  <a:lnTo>
                    <a:pt x="2137363" y="1309426"/>
                  </a:lnTo>
                  <a:cubicBezTo>
                    <a:pt x="2137363" y="1318281"/>
                    <a:pt x="2133845" y="1326774"/>
                    <a:pt x="2127583" y="1333036"/>
                  </a:cubicBezTo>
                  <a:cubicBezTo>
                    <a:pt x="2121321" y="1339298"/>
                    <a:pt x="2112829" y="1342816"/>
                    <a:pt x="2103973" y="1342816"/>
                  </a:cubicBezTo>
                  <a:lnTo>
                    <a:pt x="33390" y="1342816"/>
                  </a:lnTo>
                  <a:cubicBezTo>
                    <a:pt x="24534" y="1342816"/>
                    <a:pt x="16041" y="1339298"/>
                    <a:pt x="9780" y="1333036"/>
                  </a:cubicBezTo>
                  <a:cubicBezTo>
                    <a:pt x="3518" y="1326774"/>
                    <a:pt x="0" y="1318281"/>
                    <a:pt x="0" y="1309426"/>
                  </a:cubicBezTo>
                  <a:lnTo>
                    <a:pt x="0" y="33390"/>
                  </a:lnTo>
                  <a:cubicBezTo>
                    <a:pt x="0" y="24534"/>
                    <a:pt x="3518" y="16041"/>
                    <a:pt x="9780" y="9780"/>
                  </a:cubicBezTo>
                  <a:cubicBezTo>
                    <a:pt x="16041" y="3518"/>
                    <a:pt x="24534" y="0"/>
                    <a:pt x="33390" y="0"/>
                  </a:cubicBezTo>
                  <a:close/>
                </a:path>
              </a:pathLst>
            </a:custGeom>
            <a:solidFill>
              <a:srgbClr val="000000"/>
            </a:solidFill>
            <a:ln w="9525" cap="rnd">
              <a:solidFill>
                <a:srgbClr val="737373"/>
              </a:solidFill>
              <a:prstDash val="solid"/>
              <a:round/>
            </a:ln>
          </p:spPr>
          <p:txBody>
            <a:bodyPr/>
            <a:lstStyle/>
            <a:p>
              <a:endParaRPr lang="en-IN"/>
            </a:p>
          </p:txBody>
        </p:sp>
        <p:sp>
          <p:nvSpPr>
            <p:cNvPr id="4" name="TextBox 4"/>
            <p:cNvSpPr txBox="1"/>
            <p:nvPr/>
          </p:nvSpPr>
          <p:spPr>
            <a:xfrm>
              <a:off x="0" y="19050"/>
              <a:ext cx="2137363" cy="1323766"/>
            </a:xfrm>
            <a:prstGeom prst="rect">
              <a:avLst/>
            </a:prstGeom>
          </p:spPr>
          <p:txBody>
            <a:bodyPr lIns="50800" tIns="50800" rIns="50800" bIns="50800" rtlCol="0" anchor="ctr"/>
            <a:lstStyle/>
            <a:p>
              <a:pPr marL="0" lvl="0" indent="0" algn="ctr">
                <a:lnSpc>
                  <a:spcPts val="1400"/>
                </a:lnSpc>
              </a:pPr>
              <a:endParaRPr/>
            </a:p>
          </p:txBody>
        </p:sp>
      </p:grpSp>
      <p:grpSp>
        <p:nvGrpSpPr>
          <p:cNvPr id="5" name="Group 5"/>
          <p:cNvGrpSpPr/>
          <p:nvPr/>
        </p:nvGrpSpPr>
        <p:grpSpPr>
          <a:xfrm>
            <a:off x="8352235" y="1028700"/>
            <a:ext cx="8907065" cy="8229600"/>
            <a:chOff x="0" y="0"/>
            <a:chExt cx="1508891" cy="1394126"/>
          </a:xfrm>
        </p:grpSpPr>
        <p:sp>
          <p:nvSpPr>
            <p:cNvPr id="6" name="Freeform 6"/>
            <p:cNvSpPr/>
            <p:nvPr/>
          </p:nvSpPr>
          <p:spPr>
            <a:xfrm>
              <a:off x="0" y="0"/>
              <a:ext cx="1508891" cy="1394126"/>
            </a:xfrm>
            <a:custGeom>
              <a:avLst/>
              <a:gdLst/>
              <a:ahLst/>
              <a:cxnLst/>
              <a:rect l="l" t="t" r="r" b="b"/>
              <a:pathLst>
                <a:path w="1508891" h="1394126">
                  <a:moveTo>
                    <a:pt x="639418" y="88095"/>
                  </a:moveTo>
                  <a:lnTo>
                    <a:pt x="639418" y="246210"/>
                  </a:lnTo>
                  <a:cubicBezTo>
                    <a:pt x="639418" y="267140"/>
                    <a:pt x="631966" y="287386"/>
                    <a:pt x="618397" y="303322"/>
                  </a:cubicBezTo>
                  <a:lnTo>
                    <a:pt x="450704" y="500263"/>
                  </a:lnTo>
                  <a:cubicBezTo>
                    <a:pt x="433967" y="519922"/>
                    <a:pt x="409449" y="531250"/>
                    <a:pt x="383630" y="531251"/>
                  </a:cubicBezTo>
                  <a:lnTo>
                    <a:pt x="88095" y="531251"/>
                  </a:lnTo>
                  <a:cubicBezTo>
                    <a:pt x="39444" y="531251"/>
                    <a:pt x="4" y="570689"/>
                    <a:pt x="0" y="619340"/>
                  </a:cubicBezTo>
                  <a:lnTo>
                    <a:pt x="0" y="1306032"/>
                  </a:lnTo>
                  <a:cubicBezTo>
                    <a:pt x="1" y="1354685"/>
                    <a:pt x="39442" y="1394126"/>
                    <a:pt x="88095" y="1394126"/>
                  </a:cubicBezTo>
                  <a:lnTo>
                    <a:pt x="1420796" y="1394126"/>
                  </a:lnTo>
                  <a:cubicBezTo>
                    <a:pt x="1469449" y="1394126"/>
                    <a:pt x="1508890" y="1354685"/>
                    <a:pt x="1508891" y="1306032"/>
                  </a:cubicBezTo>
                  <a:lnTo>
                    <a:pt x="1508891" y="88095"/>
                  </a:lnTo>
                  <a:cubicBezTo>
                    <a:pt x="1508891" y="64731"/>
                    <a:pt x="1499610" y="42323"/>
                    <a:pt x="1483089" y="25802"/>
                  </a:cubicBezTo>
                  <a:cubicBezTo>
                    <a:pt x="1466568" y="9281"/>
                    <a:pt x="1444160" y="0"/>
                    <a:pt x="1420796" y="0"/>
                  </a:cubicBezTo>
                  <a:lnTo>
                    <a:pt x="727513" y="0"/>
                  </a:lnTo>
                  <a:cubicBezTo>
                    <a:pt x="678860" y="0"/>
                    <a:pt x="639418" y="39441"/>
                    <a:pt x="639418" y="88095"/>
                  </a:cubicBezTo>
                  <a:lnTo>
                    <a:pt x="0" y="0"/>
                  </a:lnTo>
                  <a:cubicBezTo>
                    <a:pt x="0" y="0"/>
                    <a:pt x="639418" y="88095"/>
                    <a:pt x="639418" y="88095"/>
                  </a:cubicBezTo>
                  <a:close/>
                </a:path>
              </a:pathLst>
            </a:custGeom>
            <a:blipFill>
              <a:blip r:embed="rId2"/>
              <a:stretch>
                <a:fillRect t="-4116" b="-4116"/>
              </a:stretch>
            </a:blipFill>
            <a:ln cap="rnd">
              <a:noFill/>
              <a:prstDash val="solid"/>
              <a:round/>
            </a:ln>
          </p:spPr>
          <p:txBody>
            <a:bodyPr/>
            <a:lstStyle/>
            <a:p>
              <a:endParaRPr lang="en-IN"/>
            </a:p>
          </p:txBody>
        </p:sp>
      </p:grpSp>
      <p:grpSp>
        <p:nvGrpSpPr>
          <p:cNvPr id="7" name="Group 7"/>
          <p:cNvGrpSpPr/>
          <p:nvPr/>
        </p:nvGrpSpPr>
        <p:grpSpPr>
          <a:xfrm>
            <a:off x="1586689" y="6793808"/>
            <a:ext cx="3137711" cy="2086037"/>
            <a:chOff x="0" y="0"/>
            <a:chExt cx="486113" cy="323182"/>
          </a:xfrm>
        </p:grpSpPr>
        <p:sp>
          <p:nvSpPr>
            <p:cNvPr id="8" name="Freeform 8"/>
            <p:cNvSpPr/>
            <p:nvPr/>
          </p:nvSpPr>
          <p:spPr>
            <a:xfrm>
              <a:off x="0" y="0"/>
              <a:ext cx="486113" cy="323182"/>
            </a:xfrm>
            <a:custGeom>
              <a:avLst/>
              <a:gdLst/>
              <a:ahLst/>
              <a:cxnLst/>
              <a:rect l="l" t="t" r="r" b="b"/>
              <a:pathLst>
                <a:path w="486113" h="323182">
                  <a:moveTo>
                    <a:pt x="111032" y="0"/>
                  </a:moveTo>
                  <a:lnTo>
                    <a:pt x="375081" y="0"/>
                  </a:lnTo>
                  <a:cubicBezTo>
                    <a:pt x="404529" y="0"/>
                    <a:pt x="432770" y="11698"/>
                    <a:pt x="453593" y="32521"/>
                  </a:cubicBezTo>
                  <a:cubicBezTo>
                    <a:pt x="474415" y="53343"/>
                    <a:pt x="486113" y="81585"/>
                    <a:pt x="486113" y="111032"/>
                  </a:cubicBezTo>
                  <a:lnTo>
                    <a:pt x="486113" y="212150"/>
                  </a:lnTo>
                  <a:cubicBezTo>
                    <a:pt x="486113" y="273471"/>
                    <a:pt x="436403" y="323182"/>
                    <a:pt x="375081" y="323182"/>
                  </a:cubicBezTo>
                  <a:lnTo>
                    <a:pt x="111032" y="323182"/>
                  </a:lnTo>
                  <a:cubicBezTo>
                    <a:pt x="49711" y="323182"/>
                    <a:pt x="0" y="273471"/>
                    <a:pt x="0" y="212150"/>
                  </a:cubicBezTo>
                  <a:lnTo>
                    <a:pt x="0" y="111032"/>
                  </a:lnTo>
                  <a:cubicBezTo>
                    <a:pt x="0" y="49711"/>
                    <a:pt x="49711" y="0"/>
                    <a:pt x="111032" y="0"/>
                  </a:cubicBezTo>
                  <a:close/>
                </a:path>
              </a:pathLst>
            </a:custGeom>
            <a:blipFill>
              <a:blip r:embed="rId3"/>
              <a:stretch>
                <a:fillRect t="-671" b="-671"/>
              </a:stretch>
            </a:blipFill>
          </p:spPr>
          <p:txBody>
            <a:bodyPr/>
            <a:lstStyle/>
            <a:p>
              <a:endParaRPr lang="en-IN"/>
            </a:p>
          </p:txBody>
        </p:sp>
      </p:grpSp>
      <p:sp>
        <p:nvSpPr>
          <p:cNvPr id="9" name="TextBox 9"/>
          <p:cNvSpPr txBox="1"/>
          <p:nvPr/>
        </p:nvSpPr>
        <p:spPr>
          <a:xfrm>
            <a:off x="1028700" y="887301"/>
            <a:ext cx="11315700" cy="1129668"/>
          </a:xfrm>
          <a:prstGeom prst="rect">
            <a:avLst/>
          </a:prstGeom>
        </p:spPr>
        <p:txBody>
          <a:bodyPr wrap="square" lIns="0" tIns="0" rIns="0" bIns="0" rtlCol="0" anchor="t">
            <a:spAutoFit/>
          </a:bodyPr>
          <a:lstStyle/>
          <a:p>
            <a:pPr marL="0" lvl="0" indent="0" algn="l">
              <a:lnSpc>
                <a:spcPts val="8364"/>
              </a:lnSpc>
            </a:pPr>
            <a:r>
              <a:rPr lang="en-US" sz="8364" b="1" dirty="0">
                <a:solidFill>
                  <a:srgbClr val="FFFFFF"/>
                </a:solidFill>
                <a:latin typeface="TT Autonomous Bold"/>
                <a:ea typeface="TT Autonomous Bold"/>
                <a:cs typeface="TT Autonomous Bold"/>
                <a:sym typeface="TT Autonomous Bold"/>
              </a:rPr>
              <a:t>DISTRIBUTED</a:t>
            </a:r>
          </a:p>
        </p:txBody>
      </p:sp>
      <p:sp>
        <p:nvSpPr>
          <p:cNvPr id="10" name="TextBox 10"/>
          <p:cNvSpPr txBox="1"/>
          <p:nvPr/>
        </p:nvSpPr>
        <p:spPr>
          <a:xfrm>
            <a:off x="1028700" y="2093086"/>
            <a:ext cx="7642474" cy="958771"/>
          </a:xfrm>
          <a:prstGeom prst="rect">
            <a:avLst/>
          </a:prstGeom>
        </p:spPr>
        <p:txBody>
          <a:bodyPr lIns="0" tIns="0" rIns="0" bIns="0" rtlCol="0" anchor="t">
            <a:spAutoFit/>
          </a:bodyPr>
          <a:lstStyle/>
          <a:p>
            <a:pPr marL="0" lvl="0" indent="0" algn="l">
              <a:lnSpc>
                <a:spcPts val="7103"/>
              </a:lnSpc>
            </a:pPr>
            <a:r>
              <a:rPr lang="en-US" sz="7103" dirty="0" err="1">
                <a:solidFill>
                  <a:srgbClr val="FFFFFF"/>
                </a:solidFill>
                <a:latin typeface="TT Autonomous"/>
                <a:ea typeface="TT Autonomous"/>
                <a:cs typeface="TT Autonomous"/>
                <a:sym typeface="TT Autonomous"/>
              </a:rPr>
              <a:t>iNFERENCE</a:t>
            </a:r>
            <a:endParaRPr lang="en-US" sz="7103" dirty="0">
              <a:solidFill>
                <a:srgbClr val="FFFFFF"/>
              </a:solidFill>
              <a:latin typeface="TT Autonomous"/>
              <a:ea typeface="TT Autonomous"/>
              <a:cs typeface="TT Autonomous"/>
              <a:sym typeface="TT Autonomous"/>
            </a:endParaRPr>
          </a:p>
        </p:txBody>
      </p:sp>
      <p:sp>
        <p:nvSpPr>
          <p:cNvPr id="11" name="TextBox 11"/>
          <p:cNvSpPr txBox="1"/>
          <p:nvPr/>
        </p:nvSpPr>
        <p:spPr>
          <a:xfrm>
            <a:off x="1534074" y="5178411"/>
            <a:ext cx="8115300" cy="1236942"/>
          </a:xfrm>
          <a:prstGeom prst="rect">
            <a:avLst/>
          </a:prstGeom>
        </p:spPr>
        <p:txBody>
          <a:bodyPr wrap="square" lIns="0" tIns="0" rIns="0" bIns="0" rtlCol="0" anchor="t">
            <a:spAutoFit/>
          </a:bodyPr>
          <a:lstStyle/>
          <a:p>
            <a:pPr marL="0" lvl="0" indent="0" algn="l">
              <a:lnSpc>
                <a:spcPts val="1599"/>
              </a:lnSpc>
            </a:pPr>
            <a:r>
              <a:rPr lang="en-US" sz="2000" spc="-13" dirty="0">
                <a:solidFill>
                  <a:srgbClr val="FFFFFF"/>
                </a:solidFill>
                <a:latin typeface="Times New Roman" panose="02020603050405020304" pitchFamily="18" charset="0"/>
                <a:ea typeface="TT Hoves"/>
                <a:cs typeface="Times New Roman" panose="02020603050405020304" pitchFamily="18" charset="0"/>
                <a:sym typeface="TT Hoves"/>
              </a:rPr>
              <a:t>Distributed deep learning inference refers to the deployment of trained neural network models across multiple computing nodes to process prediction requests in parallel. As AI models grow increasingly complex—with billions of parameters—single-server deployments struggle to meet latency and throughput demands. Distribution enables horizontal scaling, fault tolerance, and efficient resource utilization across data centers.</a:t>
            </a:r>
          </a:p>
        </p:txBody>
      </p:sp>
      <p:sp>
        <p:nvSpPr>
          <p:cNvPr id="12" name="TextBox 12"/>
          <p:cNvSpPr txBox="1"/>
          <p:nvPr/>
        </p:nvSpPr>
        <p:spPr>
          <a:xfrm>
            <a:off x="1534074" y="4632537"/>
            <a:ext cx="6818161" cy="190500"/>
          </a:xfrm>
          <a:prstGeom prst="rect">
            <a:avLst/>
          </a:prstGeom>
        </p:spPr>
        <p:txBody>
          <a:bodyPr lIns="0" tIns="0" rIns="0" bIns="0" rtlCol="0" anchor="t">
            <a:spAutoFit/>
          </a:bodyPr>
          <a:lstStyle/>
          <a:p>
            <a:pPr marL="0" lvl="0" indent="0" algn="l">
              <a:lnSpc>
                <a:spcPts val="1599"/>
              </a:lnSpc>
              <a:spcBef>
                <a:spcPct val="0"/>
              </a:spcBef>
            </a:pPr>
            <a:r>
              <a:rPr lang="en-US" sz="1333" b="1" i="1" u="none" strike="noStrike">
                <a:solidFill>
                  <a:srgbClr val="FFFFFF"/>
                </a:solidFill>
                <a:latin typeface="TT Hoves Bold Italics"/>
                <a:ea typeface="TT Hoves Bold Italics"/>
                <a:cs typeface="TT Hoves Bold Italics"/>
                <a:sym typeface="TT Hoves Bold Italics"/>
              </a:rPr>
              <a:t>WHAT IS DISTRIBUTED DEEP LEARNING INFERENCE?</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1000"/>
                                        <p:tgtEl>
                                          <p:spTgt spid="7"/>
                                        </p:tgtEl>
                                      </p:cBhvr>
                                    </p:animEffect>
                                    <p:anim calcmode="lin" valueType="num">
                                      <p:cBhvr>
                                        <p:cTn id="25" dur="1000" fill="hold"/>
                                        <p:tgtEl>
                                          <p:spTgt spid="7"/>
                                        </p:tgtEl>
                                        <p:attrNameLst>
                                          <p:attrName>ppt_x</p:attrName>
                                        </p:attrNameLst>
                                      </p:cBhvr>
                                      <p:tavLst>
                                        <p:tav tm="0">
                                          <p:val>
                                            <p:strVal val="#ppt_x"/>
                                          </p:val>
                                        </p:tav>
                                        <p:tav tm="100000">
                                          <p:val>
                                            <p:strVal val="#ppt_x"/>
                                          </p:val>
                                        </p:tav>
                                      </p:tavLst>
                                    </p:anim>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1000"/>
                                        <p:tgtEl>
                                          <p:spTgt spid="11"/>
                                        </p:tgtEl>
                                      </p:cBhvr>
                                    </p:animEffect>
                                    <p:anim calcmode="lin" valueType="num">
                                      <p:cBhvr>
                                        <p:cTn id="30" dur="1000" fill="hold"/>
                                        <p:tgtEl>
                                          <p:spTgt spid="11"/>
                                        </p:tgtEl>
                                        <p:attrNameLst>
                                          <p:attrName>ppt_x</p:attrName>
                                        </p:attrNameLst>
                                      </p:cBhvr>
                                      <p:tavLst>
                                        <p:tav tm="0">
                                          <p:val>
                                            <p:strVal val="#ppt_x"/>
                                          </p:val>
                                        </p:tav>
                                        <p:tav tm="100000">
                                          <p:val>
                                            <p:strVal val="#ppt_x"/>
                                          </p:val>
                                        </p:tav>
                                      </p:tavLst>
                                    </p:anim>
                                    <p:anim calcmode="lin" valueType="num">
                                      <p:cBhvr>
                                        <p:cTn id="31" dur="1000" fill="hold"/>
                                        <p:tgtEl>
                                          <p:spTgt spid="11"/>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1000"/>
                                        <p:tgtEl>
                                          <p:spTgt spid="12"/>
                                        </p:tgtEl>
                                      </p:cBhvr>
                                    </p:animEffect>
                                    <p:anim calcmode="lin" valueType="num">
                                      <p:cBhvr>
                                        <p:cTn id="35" dur="1000" fill="hold"/>
                                        <p:tgtEl>
                                          <p:spTgt spid="12"/>
                                        </p:tgtEl>
                                        <p:attrNameLst>
                                          <p:attrName>ppt_x</p:attrName>
                                        </p:attrNameLst>
                                      </p:cBhvr>
                                      <p:tavLst>
                                        <p:tav tm="0">
                                          <p:val>
                                            <p:strVal val="#ppt_x"/>
                                          </p:val>
                                        </p:tav>
                                        <p:tav tm="100000">
                                          <p:val>
                                            <p:strVal val="#ppt_x"/>
                                          </p:val>
                                        </p:tav>
                                      </p:tavLst>
                                    </p:anim>
                                    <p:anim calcmode="lin" valueType="num">
                                      <p:cBhvr>
                                        <p:cTn id="3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5A5120C8-9474-7C44-FD0F-9F613E2BB2F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D7A2C9C-529A-3667-75EA-9DB9666E842A}"/>
              </a:ext>
            </a:extLst>
          </p:cNvPr>
          <p:cNvGrpSpPr/>
          <p:nvPr/>
        </p:nvGrpSpPr>
        <p:grpSpPr>
          <a:xfrm>
            <a:off x="438150" y="723900"/>
            <a:ext cx="7772400" cy="8229206"/>
            <a:chOff x="0" y="0"/>
            <a:chExt cx="1484706" cy="1569135"/>
          </a:xfrm>
        </p:grpSpPr>
        <p:sp>
          <p:nvSpPr>
            <p:cNvPr id="3" name="Freeform 3">
              <a:extLst>
                <a:ext uri="{FF2B5EF4-FFF2-40B4-BE49-F238E27FC236}">
                  <a16:creationId xmlns:a16="http://schemas.microsoft.com/office/drawing/2014/main" id="{4BD9D90B-BA6B-1BE9-E38C-AB7783820150}"/>
                </a:ext>
              </a:extLst>
            </p:cNvPr>
            <p:cNvSpPr/>
            <p:nvPr/>
          </p:nvSpPr>
          <p:spPr>
            <a:xfrm>
              <a:off x="0" y="0"/>
              <a:ext cx="1484706" cy="1569133"/>
            </a:xfrm>
            <a:custGeom>
              <a:avLst/>
              <a:gdLst/>
              <a:ahLst/>
              <a:cxnLst/>
              <a:rect l="l" t="t" r="r" b="b"/>
              <a:pathLst>
                <a:path w="1484706" h="1569133">
                  <a:moveTo>
                    <a:pt x="1379836" y="0"/>
                  </a:moveTo>
                  <a:lnTo>
                    <a:pt x="104870" y="0"/>
                  </a:lnTo>
                  <a:cubicBezTo>
                    <a:pt x="46952" y="0"/>
                    <a:pt x="0" y="46952"/>
                    <a:pt x="0" y="104870"/>
                  </a:cubicBezTo>
                  <a:lnTo>
                    <a:pt x="0" y="464773"/>
                  </a:lnTo>
                  <a:lnTo>
                    <a:pt x="0" y="1464263"/>
                  </a:lnTo>
                  <a:cubicBezTo>
                    <a:pt x="1" y="1522181"/>
                    <a:pt x="46952" y="1569133"/>
                    <a:pt x="104870" y="1569133"/>
                  </a:cubicBezTo>
                  <a:lnTo>
                    <a:pt x="905328" y="1569133"/>
                  </a:lnTo>
                  <a:cubicBezTo>
                    <a:pt x="963246" y="1569133"/>
                    <a:pt x="1010198" y="1522182"/>
                    <a:pt x="1010199" y="1464264"/>
                  </a:cubicBezTo>
                  <a:lnTo>
                    <a:pt x="1010199" y="569643"/>
                  </a:lnTo>
                  <a:cubicBezTo>
                    <a:pt x="1010198" y="541830"/>
                    <a:pt x="1021247" y="515156"/>
                    <a:pt x="1040914" y="495488"/>
                  </a:cubicBezTo>
                  <a:cubicBezTo>
                    <a:pt x="1060581" y="475821"/>
                    <a:pt x="1087255" y="464773"/>
                    <a:pt x="1115069" y="464773"/>
                  </a:cubicBezTo>
                  <a:lnTo>
                    <a:pt x="1379836" y="464773"/>
                  </a:lnTo>
                  <a:cubicBezTo>
                    <a:pt x="1437754" y="464772"/>
                    <a:pt x="1484705" y="417821"/>
                    <a:pt x="1484706" y="359903"/>
                  </a:cubicBezTo>
                  <a:lnTo>
                    <a:pt x="1484706" y="104870"/>
                  </a:lnTo>
                  <a:cubicBezTo>
                    <a:pt x="1484706" y="46952"/>
                    <a:pt x="1437754" y="0"/>
                    <a:pt x="1379836" y="0"/>
                  </a:cubicBezTo>
                  <a:close/>
                </a:path>
              </a:pathLst>
            </a:custGeom>
            <a:blipFill>
              <a:blip r:embed="rId2"/>
              <a:stretch>
                <a:fillRect l="-2843" r="-2843"/>
              </a:stretch>
            </a:blipFill>
          </p:spPr>
          <p:txBody>
            <a:bodyPr/>
            <a:lstStyle/>
            <a:p>
              <a:endParaRPr lang="en-IN"/>
            </a:p>
          </p:txBody>
        </p:sp>
      </p:grpSp>
      <p:sp>
        <p:nvSpPr>
          <p:cNvPr id="6" name="Subtitle 5">
            <a:extLst>
              <a:ext uri="{FF2B5EF4-FFF2-40B4-BE49-F238E27FC236}">
                <a16:creationId xmlns:a16="http://schemas.microsoft.com/office/drawing/2014/main" id="{928BECCC-D35A-36DF-531E-BFA62B317747}"/>
              </a:ext>
            </a:extLst>
          </p:cNvPr>
          <p:cNvSpPr>
            <a:spLocks noGrp="1"/>
          </p:cNvSpPr>
          <p:nvPr>
            <p:ph type="subTitle" idx="1"/>
          </p:nvPr>
        </p:nvSpPr>
        <p:spPr>
          <a:xfrm>
            <a:off x="9753600" y="647700"/>
            <a:ext cx="6934200" cy="9219796"/>
          </a:xfrm>
        </p:spPr>
        <p:txBody>
          <a:bodyPr>
            <a:normAutofit fontScale="92500" lnSpcReduction="10000"/>
          </a:bodyPr>
          <a:lstStyle/>
          <a:p>
            <a:r>
              <a:rPr lang="en-IN" sz="2000" dirty="0">
                <a:latin typeface="ADLaM Display" panose="02010000000000000000" pitchFamily="2" charset="0"/>
                <a:ea typeface="ADLaM Display" panose="02010000000000000000" pitchFamily="2" charset="0"/>
                <a:cs typeface="ADLaM Display" panose="02010000000000000000" pitchFamily="2" charset="0"/>
              </a:rPr>
              <a:t>1. Client selects image</a:t>
            </a:r>
          </a:p>
          <a:p>
            <a:r>
              <a:rPr lang="en-IN" sz="2000" dirty="0">
                <a:latin typeface="ADLaM Display" panose="02010000000000000000" pitchFamily="2" charset="0"/>
                <a:ea typeface="ADLaM Display" panose="02010000000000000000" pitchFamily="2" charset="0"/>
                <a:cs typeface="ADLaM Display" panose="02010000000000000000" pitchFamily="2" charset="0"/>
              </a:rPr>
              <a:t>        │</a:t>
            </a:r>
          </a:p>
          <a:p>
            <a:r>
              <a:rPr lang="en-IN" sz="2000" dirty="0">
                <a:latin typeface="ADLaM Display" panose="02010000000000000000" pitchFamily="2" charset="0"/>
                <a:ea typeface="ADLaM Display" panose="02010000000000000000" pitchFamily="2" charset="0"/>
                <a:cs typeface="ADLaM Display" panose="02010000000000000000" pitchFamily="2" charset="0"/>
              </a:rPr>
              <a:t>        ▼</a:t>
            </a:r>
          </a:p>
          <a:p>
            <a:r>
              <a:rPr lang="en-IN" sz="2000" dirty="0">
                <a:latin typeface="ADLaM Display" panose="02010000000000000000" pitchFamily="2" charset="0"/>
                <a:ea typeface="ADLaM Display" panose="02010000000000000000" pitchFamily="2" charset="0"/>
                <a:cs typeface="ADLaM Display" panose="02010000000000000000" pitchFamily="2" charset="0"/>
              </a:rPr>
              <a:t>2. Client sends image over TCP</a:t>
            </a:r>
          </a:p>
          <a:p>
            <a:r>
              <a:rPr lang="en-IN" sz="2000" dirty="0">
                <a:latin typeface="ADLaM Display" panose="02010000000000000000" pitchFamily="2" charset="0"/>
                <a:ea typeface="ADLaM Display" panose="02010000000000000000" pitchFamily="2" charset="0"/>
                <a:cs typeface="ADLaM Display" panose="02010000000000000000" pitchFamily="2" charset="0"/>
              </a:rPr>
              <a:t>        │</a:t>
            </a:r>
          </a:p>
          <a:p>
            <a:r>
              <a:rPr lang="en-IN" sz="2000" dirty="0">
                <a:latin typeface="ADLaM Display" panose="02010000000000000000" pitchFamily="2" charset="0"/>
                <a:ea typeface="ADLaM Display" panose="02010000000000000000" pitchFamily="2" charset="0"/>
                <a:cs typeface="ADLaM Display" panose="02010000000000000000" pitchFamily="2" charset="0"/>
              </a:rPr>
              <a:t>        ▼</a:t>
            </a:r>
          </a:p>
          <a:p>
            <a:r>
              <a:rPr lang="en-IN" sz="2000" dirty="0">
                <a:latin typeface="ADLaM Display" panose="02010000000000000000" pitchFamily="2" charset="0"/>
                <a:ea typeface="ADLaM Display" panose="02010000000000000000" pitchFamily="2" charset="0"/>
                <a:cs typeface="ADLaM Display" panose="02010000000000000000" pitchFamily="2" charset="0"/>
              </a:rPr>
              <a:t>3. Gateway receives request</a:t>
            </a:r>
          </a:p>
          <a:p>
            <a:r>
              <a:rPr lang="en-IN" sz="2000" dirty="0">
                <a:latin typeface="ADLaM Display" panose="02010000000000000000" pitchFamily="2" charset="0"/>
                <a:ea typeface="ADLaM Display" panose="02010000000000000000" pitchFamily="2" charset="0"/>
                <a:cs typeface="ADLaM Display" panose="02010000000000000000" pitchFamily="2" charset="0"/>
              </a:rPr>
              <a:t>        │</a:t>
            </a:r>
          </a:p>
          <a:p>
            <a:r>
              <a:rPr lang="en-IN" sz="2000" dirty="0">
                <a:latin typeface="ADLaM Display" panose="02010000000000000000" pitchFamily="2" charset="0"/>
                <a:ea typeface="ADLaM Display" panose="02010000000000000000" pitchFamily="2" charset="0"/>
                <a:cs typeface="ADLaM Display" panose="02010000000000000000" pitchFamily="2" charset="0"/>
              </a:rPr>
              <a:t>        ▼</a:t>
            </a:r>
          </a:p>
          <a:p>
            <a:r>
              <a:rPr lang="en-IN" sz="2000" dirty="0">
                <a:latin typeface="ADLaM Display" panose="02010000000000000000" pitchFamily="2" charset="0"/>
                <a:ea typeface="ADLaM Display" panose="02010000000000000000" pitchFamily="2" charset="0"/>
                <a:cs typeface="ADLaM Display" panose="02010000000000000000" pitchFamily="2" charset="0"/>
              </a:rPr>
              <a:t>4. Thread created for client</a:t>
            </a:r>
          </a:p>
          <a:p>
            <a:r>
              <a:rPr lang="en-IN" sz="2000" dirty="0">
                <a:latin typeface="ADLaM Display" panose="02010000000000000000" pitchFamily="2" charset="0"/>
                <a:ea typeface="ADLaM Display" panose="02010000000000000000" pitchFamily="2" charset="0"/>
                <a:cs typeface="ADLaM Display" panose="02010000000000000000" pitchFamily="2" charset="0"/>
              </a:rPr>
              <a:t>        │</a:t>
            </a:r>
          </a:p>
          <a:p>
            <a:r>
              <a:rPr lang="en-IN" sz="2000" dirty="0">
                <a:latin typeface="ADLaM Display" panose="02010000000000000000" pitchFamily="2" charset="0"/>
                <a:ea typeface="ADLaM Display" panose="02010000000000000000" pitchFamily="2" charset="0"/>
                <a:cs typeface="ADLaM Display" panose="02010000000000000000" pitchFamily="2" charset="0"/>
              </a:rPr>
              <a:t>        ▼</a:t>
            </a:r>
          </a:p>
          <a:p>
            <a:r>
              <a:rPr lang="en-IN" sz="2000" dirty="0">
                <a:latin typeface="ADLaM Display" panose="02010000000000000000" pitchFamily="2" charset="0"/>
                <a:ea typeface="ADLaM Display" panose="02010000000000000000" pitchFamily="2" charset="0"/>
                <a:cs typeface="ADLaM Display" panose="02010000000000000000" pitchFamily="2" charset="0"/>
              </a:rPr>
              <a:t>5. Load balancer selects worker</a:t>
            </a:r>
          </a:p>
          <a:p>
            <a:r>
              <a:rPr lang="en-IN" sz="2000" dirty="0">
                <a:latin typeface="ADLaM Display" panose="02010000000000000000" pitchFamily="2" charset="0"/>
                <a:ea typeface="ADLaM Display" panose="02010000000000000000" pitchFamily="2" charset="0"/>
                <a:cs typeface="ADLaM Display" panose="02010000000000000000" pitchFamily="2" charset="0"/>
              </a:rPr>
              <a:t>        │</a:t>
            </a:r>
          </a:p>
          <a:p>
            <a:r>
              <a:rPr lang="en-IN" sz="2000" dirty="0">
                <a:latin typeface="ADLaM Display" panose="02010000000000000000" pitchFamily="2" charset="0"/>
                <a:ea typeface="ADLaM Display" panose="02010000000000000000" pitchFamily="2" charset="0"/>
                <a:cs typeface="ADLaM Display" panose="02010000000000000000" pitchFamily="2" charset="0"/>
              </a:rPr>
              <a:t>        ▼</a:t>
            </a:r>
          </a:p>
          <a:p>
            <a:r>
              <a:rPr lang="en-IN" sz="2000" dirty="0">
                <a:latin typeface="ADLaM Display" panose="02010000000000000000" pitchFamily="2" charset="0"/>
                <a:ea typeface="ADLaM Display" panose="02010000000000000000" pitchFamily="2" charset="0"/>
                <a:cs typeface="ADLaM Display" panose="02010000000000000000" pitchFamily="2" charset="0"/>
              </a:rPr>
              <a:t>6. Gateway forwards image to worker</a:t>
            </a:r>
          </a:p>
          <a:p>
            <a:r>
              <a:rPr lang="en-IN" sz="2000" dirty="0">
                <a:latin typeface="ADLaM Display" panose="02010000000000000000" pitchFamily="2" charset="0"/>
                <a:ea typeface="ADLaM Display" panose="02010000000000000000" pitchFamily="2" charset="0"/>
                <a:cs typeface="ADLaM Display" panose="02010000000000000000" pitchFamily="2" charset="0"/>
              </a:rPr>
              <a:t>        │</a:t>
            </a:r>
          </a:p>
          <a:p>
            <a:r>
              <a:rPr lang="en-IN" sz="2000" dirty="0">
                <a:latin typeface="ADLaM Display" panose="02010000000000000000" pitchFamily="2" charset="0"/>
                <a:ea typeface="ADLaM Display" panose="02010000000000000000" pitchFamily="2" charset="0"/>
                <a:cs typeface="ADLaM Display" panose="02010000000000000000" pitchFamily="2" charset="0"/>
              </a:rPr>
              <a:t>        ▼</a:t>
            </a:r>
          </a:p>
          <a:p>
            <a:r>
              <a:rPr lang="en-IN" sz="2000" dirty="0">
                <a:latin typeface="ADLaM Display" panose="02010000000000000000" pitchFamily="2" charset="0"/>
                <a:ea typeface="ADLaM Display" panose="02010000000000000000" pitchFamily="2" charset="0"/>
                <a:cs typeface="ADLaM Display" panose="02010000000000000000" pitchFamily="2" charset="0"/>
              </a:rPr>
              <a:t>7. Worker processes image (ML model)</a:t>
            </a:r>
          </a:p>
          <a:p>
            <a:r>
              <a:rPr lang="en-IN" sz="2000" dirty="0">
                <a:latin typeface="ADLaM Display" panose="02010000000000000000" pitchFamily="2" charset="0"/>
                <a:ea typeface="ADLaM Display" panose="02010000000000000000" pitchFamily="2" charset="0"/>
                <a:cs typeface="ADLaM Display" panose="02010000000000000000" pitchFamily="2" charset="0"/>
              </a:rPr>
              <a:t>        │</a:t>
            </a:r>
          </a:p>
          <a:p>
            <a:r>
              <a:rPr lang="en-IN" sz="2000" dirty="0">
                <a:latin typeface="ADLaM Display" panose="02010000000000000000" pitchFamily="2" charset="0"/>
                <a:ea typeface="ADLaM Display" panose="02010000000000000000" pitchFamily="2" charset="0"/>
                <a:cs typeface="ADLaM Display" panose="02010000000000000000" pitchFamily="2" charset="0"/>
              </a:rPr>
              <a:t>        ▼</a:t>
            </a:r>
          </a:p>
          <a:p>
            <a:r>
              <a:rPr lang="en-IN" sz="2000" dirty="0">
                <a:latin typeface="ADLaM Display" panose="02010000000000000000" pitchFamily="2" charset="0"/>
                <a:ea typeface="ADLaM Display" panose="02010000000000000000" pitchFamily="2" charset="0"/>
                <a:cs typeface="ADLaM Display" panose="02010000000000000000" pitchFamily="2" charset="0"/>
              </a:rPr>
              <a:t>8. Worker sends predictions to gateway</a:t>
            </a:r>
          </a:p>
          <a:p>
            <a:r>
              <a:rPr lang="en-IN" sz="2000" dirty="0">
                <a:latin typeface="ADLaM Display" panose="02010000000000000000" pitchFamily="2" charset="0"/>
                <a:ea typeface="ADLaM Display" panose="02010000000000000000" pitchFamily="2" charset="0"/>
                <a:cs typeface="ADLaM Display" panose="02010000000000000000" pitchFamily="2" charset="0"/>
              </a:rPr>
              <a:t>        │</a:t>
            </a:r>
          </a:p>
          <a:p>
            <a:r>
              <a:rPr lang="en-IN" sz="2000" dirty="0">
                <a:latin typeface="ADLaM Display" panose="02010000000000000000" pitchFamily="2" charset="0"/>
                <a:ea typeface="ADLaM Display" panose="02010000000000000000" pitchFamily="2" charset="0"/>
                <a:cs typeface="ADLaM Display" panose="02010000000000000000" pitchFamily="2" charset="0"/>
              </a:rPr>
              <a:t>        ▼</a:t>
            </a:r>
          </a:p>
          <a:p>
            <a:r>
              <a:rPr lang="en-IN" sz="2000" dirty="0">
                <a:latin typeface="ADLaM Display" panose="02010000000000000000" pitchFamily="2" charset="0"/>
                <a:ea typeface="ADLaM Display" panose="02010000000000000000" pitchFamily="2" charset="0"/>
                <a:cs typeface="ADLaM Display" panose="02010000000000000000" pitchFamily="2" charset="0"/>
              </a:rPr>
              <a:t>9. Gateway sends response to client</a:t>
            </a:r>
          </a:p>
          <a:p>
            <a:r>
              <a:rPr lang="en-IN" sz="2000" dirty="0">
                <a:latin typeface="ADLaM Display" panose="02010000000000000000" pitchFamily="2" charset="0"/>
                <a:ea typeface="ADLaM Display" panose="02010000000000000000" pitchFamily="2" charset="0"/>
                <a:cs typeface="ADLaM Display" panose="02010000000000000000" pitchFamily="2" charset="0"/>
              </a:rPr>
              <a:t>        │</a:t>
            </a:r>
          </a:p>
          <a:p>
            <a:r>
              <a:rPr lang="en-IN" sz="2000" dirty="0">
                <a:latin typeface="ADLaM Display" panose="02010000000000000000" pitchFamily="2" charset="0"/>
                <a:ea typeface="ADLaM Display" panose="02010000000000000000" pitchFamily="2" charset="0"/>
                <a:cs typeface="ADLaM Display" panose="02010000000000000000" pitchFamily="2" charset="0"/>
              </a:rPr>
              <a:t>        ▼</a:t>
            </a:r>
          </a:p>
          <a:p>
            <a:r>
              <a:rPr lang="en-IN" sz="2000" dirty="0">
                <a:latin typeface="ADLaM Display" panose="02010000000000000000" pitchFamily="2" charset="0"/>
                <a:ea typeface="ADLaM Display" panose="02010000000000000000" pitchFamily="2" charset="0"/>
                <a:cs typeface="ADLaM Display" panose="02010000000000000000" pitchFamily="2" charset="0"/>
              </a:rPr>
              <a:t>10. Client displays output</a:t>
            </a:r>
          </a:p>
        </p:txBody>
      </p:sp>
      <p:sp>
        <p:nvSpPr>
          <p:cNvPr id="7" name="TextBox 10">
            <a:extLst>
              <a:ext uri="{FF2B5EF4-FFF2-40B4-BE49-F238E27FC236}">
                <a16:creationId xmlns:a16="http://schemas.microsoft.com/office/drawing/2014/main" id="{C8A3BC00-6552-EE15-0890-B621A79955DA}"/>
              </a:ext>
            </a:extLst>
          </p:cNvPr>
          <p:cNvSpPr txBox="1"/>
          <p:nvPr/>
        </p:nvSpPr>
        <p:spPr>
          <a:xfrm rot="5400000">
            <a:off x="5035764" y="6045414"/>
            <a:ext cx="5448300" cy="901272"/>
          </a:xfrm>
          <a:prstGeom prst="rect">
            <a:avLst/>
          </a:prstGeom>
        </p:spPr>
        <p:txBody>
          <a:bodyPr wrap="square" lIns="0" tIns="0" rIns="0" bIns="0" rtlCol="0" anchor="t">
            <a:spAutoFit/>
          </a:bodyPr>
          <a:lstStyle/>
          <a:p>
            <a:pPr marL="0" lvl="0" indent="0" algn="l">
              <a:lnSpc>
                <a:spcPts val="6678"/>
              </a:lnSpc>
            </a:pPr>
            <a:r>
              <a:rPr lang="en-US" sz="6678" b="1" dirty="0">
                <a:solidFill>
                  <a:srgbClr val="FFFFFF"/>
                </a:solidFill>
                <a:latin typeface="TT Autonomous Bold"/>
                <a:ea typeface="TT Autonomous Bold"/>
                <a:cs typeface="TT Autonomous Bold"/>
                <a:sym typeface="TT Autonomous Bold"/>
              </a:rPr>
              <a:t>HOW IT</a:t>
            </a:r>
          </a:p>
        </p:txBody>
      </p:sp>
      <p:sp>
        <p:nvSpPr>
          <p:cNvPr id="8" name="TextBox 11">
            <a:extLst>
              <a:ext uri="{FF2B5EF4-FFF2-40B4-BE49-F238E27FC236}">
                <a16:creationId xmlns:a16="http://schemas.microsoft.com/office/drawing/2014/main" id="{B40E85ED-C2E1-8C8B-127C-FEA5BDA7181D}"/>
              </a:ext>
            </a:extLst>
          </p:cNvPr>
          <p:cNvSpPr txBox="1"/>
          <p:nvPr/>
        </p:nvSpPr>
        <p:spPr>
          <a:xfrm rot="5400000">
            <a:off x="3645101" y="6788455"/>
            <a:ext cx="6452131" cy="876221"/>
          </a:xfrm>
          <a:prstGeom prst="rect">
            <a:avLst/>
          </a:prstGeom>
        </p:spPr>
        <p:txBody>
          <a:bodyPr lIns="0" tIns="0" rIns="0" bIns="0" rtlCol="0" anchor="t">
            <a:spAutoFit/>
          </a:bodyPr>
          <a:lstStyle/>
          <a:p>
            <a:pPr marL="0" lvl="0" indent="0" algn="l">
              <a:lnSpc>
                <a:spcPts val="6678"/>
              </a:lnSpc>
            </a:pPr>
            <a:r>
              <a:rPr lang="en-US" sz="6678" dirty="0">
                <a:solidFill>
                  <a:srgbClr val="FFFFFF"/>
                </a:solidFill>
                <a:latin typeface="TT Autonomous"/>
                <a:ea typeface="TT Autonomous"/>
                <a:cs typeface="TT Autonomous"/>
                <a:sym typeface="TT Autonomous"/>
              </a:rPr>
              <a:t>WORKS</a:t>
            </a:r>
          </a:p>
        </p:txBody>
      </p:sp>
    </p:spTree>
    <p:extLst>
      <p:ext uri="{BB962C8B-B14F-4D97-AF65-F5344CB8AC3E}">
        <p14:creationId xmlns:p14="http://schemas.microsoft.com/office/powerpoint/2010/main" val="38621617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3279823"/>
            <a:ext cx="6452131" cy="5978477"/>
            <a:chOff x="0" y="0"/>
            <a:chExt cx="1699327" cy="1574578"/>
          </a:xfrm>
        </p:grpSpPr>
        <p:sp>
          <p:nvSpPr>
            <p:cNvPr id="3" name="Freeform 3"/>
            <p:cNvSpPr/>
            <p:nvPr/>
          </p:nvSpPr>
          <p:spPr>
            <a:xfrm>
              <a:off x="0" y="0"/>
              <a:ext cx="1699327" cy="1574578"/>
            </a:xfrm>
            <a:custGeom>
              <a:avLst/>
              <a:gdLst/>
              <a:ahLst/>
              <a:cxnLst/>
              <a:rect l="l" t="t" r="r" b="b"/>
              <a:pathLst>
                <a:path w="1699327" h="1574578">
                  <a:moveTo>
                    <a:pt x="41997" y="0"/>
                  </a:moveTo>
                  <a:lnTo>
                    <a:pt x="1657330" y="0"/>
                  </a:lnTo>
                  <a:cubicBezTo>
                    <a:pt x="1668468" y="0"/>
                    <a:pt x="1679150" y="4425"/>
                    <a:pt x="1687026" y="12301"/>
                  </a:cubicBezTo>
                  <a:cubicBezTo>
                    <a:pt x="1694902" y="20176"/>
                    <a:pt x="1699327" y="30858"/>
                    <a:pt x="1699327" y="41997"/>
                  </a:cubicBezTo>
                  <a:lnTo>
                    <a:pt x="1699327" y="1532582"/>
                  </a:lnTo>
                  <a:cubicBezTo>
                    <a:pt x="1699327" y="1543720"/>
                    <a:pt x="1694902" y="1554402"/>
                    <a:pt x="1687026" y="1562278"/>
                  </a:cubicBezTo>
                  <a:cubicBezTo>
                    <a:pt x="1679150" y="1570154"/>
                    <a:pt x="1668468" y="1574578"/>
                    <a:pt x="1657330" y="1574578"/>
                  </a:cubicBezTo>
                  <a:lnTo>
                    <a:pt x="41997" y="1574578"/>
                  </a:lnTo>
                  <a:cubicBezTo>
                    <a:pt x="30858" y="1574578"/>
                    <a:pt x="20176" y="1570154"/>
                    <a:pt x="12301" y="1562278"/>
                  </a:cubicBezTo>
                  <a:cubicBezTo>
                    <a:pt x="4425" y="1554402"/>
                    <a:pt x="0" y="1543720"/>
                    <a:pt x="0" y="1532582"/>
                  </a:cubicBezTo>
                  <a:lnTo>
                    <a:pt x="0" y="41997"/>
                  </a:lnTo>
                  <a:cubicBezTo>
                    <a:pt x="0" y="30858"/>
                    <a:pt x="4425" y="20176"/>
                    <a:pt x="12301" y="12301"/>
                  </a:cubicBezTo>
                  <a:cubicBezTo>
                    <a:pt x="20176" y="4425"/>
                    <a:pt x="30858" y="0"/>
                    <a:pt x="41997" y="0"/>
                  </a:cubicBezTo>
                  <a:close/>
                </a:path>
              </a:pathLst>
            </a:custGeom>
            <a:solidFill>
              <a:srgbClr val="000000"/>
            </a:solidFill>
            <a:ln w="9525" cap="rnd">
              <a:solidFill>
                <a:srgbClr val="737373"/>
              </a:solidFill>
              <a:prstDash val="solid"/>
              <a:round/>
            </a:ln>
          </p:spPr>
          <p:txBody>
            <a:bodyPr/>
            <a:lstStyle/>
            <a:p>
              <a:endParaRPr lang="en-IN"/>
            </a:p>
          </p:txBody>
        </p:sp>
        <p:sp>
          <p:nvSpPr>
            <p:cNvPr id="4" name="TextBox 4"/>
            <p:cNvSpPr txBox="1"/>
            <p:nvPr/>
          </p:nvSpPr>
          <p:spPr>
            <a:xfrm>
              <a:off x="0" y="19050"/>
              <a:ext cx="1699327" cy="1555528"/>
            </a:xfrm>
            <a:prstGeom prst="rect">
              <a:avLst/>
            </a:prstGeom>
          </p:spPr>
          <p:txBody>
            <a:bodyPr lIns="50800" tIns="50800" rIns="50800" bIns="50800" rtlCol="0" anchor="ctr"/>
            <a:lstStyle/>
            <a:p>
              <a:pPr marL="0" lvl="0" indent="0" algn="ctr">
                <a:lnSpc>
                  <a:spcPts val="1400"/>
                </a:lnSpc>
              </a:pPr>
              <a:endParaRPr/>
            </a:p>
          </p:txBody>
        </p:sp>
      </p:grpSp>
      <p:grpSp>
        <p:nvGrpSpPr>
          <p:cNvPr id="5" name="Group 5"/>
          <p:cNvGrpSpPr/>
          <p:nvPr/>
        </p:nvGrpSpPr>
        <p:grpSpPr>
          <a:xfrm>
            <a:off x="6865938" y="1125226"/>
            <a:ext cx="7063034" cy="8133074"/>
            <a:chOff x="0" y="0"/>
            <a:chExt cx="1934557" cy="2227640"/>
          </a:xfrm>
        </p:grpSpPr>
        <p:sp>
          <p:nvSpPr>
            <p:cNvPr id="6" name="Freeform 6"/>
            <p:cNvSpPr/>
            <p:nvPr/>
          </p:nvSpPr>
          <p:spPr>
            <a:xfrm>
              <a:off x="0" y="0"/>
              <a:ext cx="1934558" cy="2227640"/>
            </a:xfrm>
            <a:custGeom>
              <a:avLst/>
              <a:gdLst/>
              <a:ahLst/>
              <a:cxnLst/>
              <a:rect l="l" t="t" r="r" b="b"/>
              <a:pathLst>
                <a:path w="1934558" h="2227640">
                  <a:moveTo>
                    <a:pt x="1833071" y="0"/>
                  </a:moveTo>
                  <a:lnTo>
                    <a:pt x="993437" y="0"/>
                  </a:lnTo>
                  <a:cubicBezTo>
                    <a:pt x="937388" y="0"/>
                    <a:pt x="891952" y="45437"/>
                    <a:pt x="891952" y="101486"/>
                  </a:cubicBezTo>
                  <a:lnTo>
                    <a:pt x="891952" y="494266"/>
                  </a:lnTo>
                  <a:cubicBezTo>
                    <a:pt x="891952" y="521182"/>
                    <a:pt x="881260" y="546996"/>
                    <a:pt x="862228" y="566028"/>
                  </a:cubicBezTo>
                  <a:cubicBezTo>
                    <a:pt x="843195" y="585061"/>
                    <a:pt x="817382" y="595753"/>
                    <a:pt x="790466" y="595753"/>
                  </a:cubicBezTo>
                  <a:lnTo>
                    <a:pt x="101486" y="595753"/>
                  </a:lnTo>
                  <a:cubicBezTo>
                    <a:pt x="74570" y="595753"/>
                    <a:pt x="48757" y="606445"/>
                    <a:pt x="29724" y="625478"/>
                  </a:cubicBezTo>
                  <a:cubicBezTo>
                    <a:pt x="10692" y="644510"/>
                    <a:pt x="0" y="670323"/>
                    <a:pt x="0" y="697239"/>
                  </a:cubicBezTo>
                  <a:lnTo>
                    <a:pt x="0" y="2126154"/>
                  </a:lnTo>
                  <a:cubicBezTo>
                    <a:pt x="0" y="2182203"/>
                    <a:pt x="45437" y="2227640"/>
                    <a:pt x="101486" y="2227640"/>
                  </a:cubicBezTo>
                  <a:lnTo>
                    <a:pt x="1321998" y="2227640"/>
                  </a:lnTo>
                  <a:cubicBezTo>
                    <a:pt x="1378047" y="2227640"/>
                    <a:pt x="1423484" y="2182203"/>
                    <a:pt x="1423484" y="2126154"/>
                  </a:cubicBezTo>
                  <a:lnTo>
                    <a:pt x="1423484" y="986605"/>
                  </a:lnTo>
                  <a:cubicBezTo>
                    <a:pt x="1423484" y="959689"/>
                    <a:pt x="1434176" y="933875"/>
                    <a:pt x="1453208" y="914843"/>
                  </a:cubicBezTo>
                  <a:cubicBezTo>
                    <a:pt x="1472241" y="895811"/>
                    <a:pt x="1498055" y="885119"/>
                    <a:pt x="1524971" y="885119"/>
                  </a:cubicBezTo>
                  <a:lnTo>
                    <a:pt x="1833073" y="885119"/>
                  </a:lnTo>
                  <a:cubicBezTo>
                    <a:pt x="1859989" y="885119"/>
                    <a:pt x="1885802" y="874426"/>
                    <a:pt x="1904834" y="855394"/>
                  </a:cubicBezTo>
                  <a:cubicBezTo>
                    <a:pt x="1923866" y="836361"/>
                    <a:pt x="1934559" y="810548"/>
                    <a:pt x="1934558" y="783632"/>
                  </a:cubicBezTo>
                  <a:lnTo>
                    <a:pt x="1934558" y="101486"/>
                  </a:lnTo>
                  <a:cubicBezTo>
                    <a:pt x="1934558" y="74570"/>
                    <a:pt x="1923866" y="48756"/>
                    <a:pt x="1904833" y="29724"/>
                  </a:cubicBezTo>
                  <a:cubicBezTo>
                    <a:pt x="1885801" y="10692"/>
                    <a:pt x="1859987" y="0"/>
                    <a:pt x="1833071" y="0"/>
                  </a:cubicBezTo>
                  <a:close/>
                </a:path>
              </a:pathLst>
            </a:custGeom>
            <a:blipFill>
              <a:blip r:embed="rId2"/>
              <a:stretch>
                <a:fillRect t="-3689" b="-3689"/>
              </a:stretch>
            </a:blipFill>
          </p:spPr>
          <p:txBody>
            <a:bodyPr/>
            <a:lstStyle/>
            <a:p>
              <a:endParaRPr lang="en-IN"/>
            </a:p>
          </p:txBody>
        </p:sp>
      </p:grpSp>
      <p:grpSp>
        <p:nvGrpSpPr>
          <p:cNvPr id="7" name="Group 7"/>
          <p:cNvGrpSpPr/>
          <p:nvPr/>
        </p:nvGrpSpPr>
        <p:grpSpPr>
          <a:xfrm>
            <a:off x="1376196" y="3645877"/>
            <a:ext cx="5246365" cy="5246370"/>
            <a:chOff x="0" y="0"/>
            <a:chExt cx="1419732" cy="1419733"/>
          </a:xfrm>
        </p:grpSpPr>
        <p:sp>
          <p:nvSpPr>
            <p:cNvPr id="8" name="Freeform 8"/>
            <p:cNvSpPr/>
            <p:nvPr/>
          </p:nvSpPr>
          <p:spPr>
            <a:xfrm>
              <a:off x="0" y="0"/>
              <a:ext cx="1419733" cy="1419746"/>
            </a:xfrm>
            <a:custGeom>
              <a:avLst/>
              <a:gdLst/>
              <a:ahLst/>
              <a:cxnLst/>
              <a:rect l="l" t="t" r="r" b="b"/>
              <a:pathLst>
                <a:path w="1419733" h="1419746">
                  <a:moveTo>
                    <a:pt x="932290" y="0"/>
                  </a:moveTo>
                  <a:lnTo>
                    <a:pt x="177673" y="0"/>
                  </a:lnTo>
                  <a:cubicBezTo>
                    <a:pt x="79547" y="0"/>
                    <a:pt x="0" y="79547"/>
                    <a:pt x="0" y="177673"/>
                  </a:cubicBezTo>
                  <a:lnTo>
                    <a:pt x="0" y="1242073"/>
                  </a:lnTo>
                  <a:cubicBezTo>
                    <a:pt x="0" y="1340199"/>
                    <a:pt x="79547" y="1419746"/>
                    <a:pt x="177673" y="1419746"/>
                  </a:cubicBezTo>
                  <a:lnTo>
                    <a:pt x="1242060" y="1419746"/>
                  </a:lnTo>
                  <a:cubicBezTo>
                    <a:pt x="1340186" y="1419746"/>
                    <a:pt x="1419733" y="1340199"/>
                    <a:pt x="1419733" y="1242073"/>
                  </a:cubicBezTo>
                  <a:lnTo>
                    <a:pt x="1419733" y="523958"/>
                  </a:lnTo>
                  <a:cubicBezTo>
                    <a:pt x="1419733" y="480251"/>
                    <a:pt x="1403623" y="438079"/>
                    <a:pt x="1374484" y="405503"/>
                  </a:cubicBezTo>
                  <a:lnTo>
                    <a:pt x="1064707" y="59214"/>
                  </a:lnTo>
                  <a:cubicBezTo>
                    <a:pt x="1031003" y="21536"/>
                    <a:pt x="982844" y="0"/>
                    <a:pt x="932290" y="0"/>
                  </a:cubicBezTo>
                  <a:close/>
                </a:path>
              </a:pathLst>
            </a:custGeom>
            <a:blipFill>
              <a:blip r:embed="rId3"/>
              <a:stretch>
                <a:fillRect/>
              </a:stretch>
            </a:blipFill>
          </p:spPr>
          <p:txBody>
            <a:bodyPr/>
            <a:lstStyle/>
            <a:p>
              <a:endParaRPr lang="en-IN"/>
            </a:p>
          </p:txBody>
        </p:sp>
      </p:grpSp>
      <p:sp>
        <p:nvSpPr>
          <p:cNvPr id="9" name="Freeform 9"/>
          <p:cNvSpPr/>
          <p:nvPr/>
        </p:nvSpPr>
        <p:spPr>
          <a:xfrm>
            <a:off x="6303516" y="3683617"/>
            <a:ext cx="319046" cy="319046"/>
          </a:xfrm>
          <a:custGeom>
            <a:avLst/>
            <a:gdLst/>
            <a:ahLst/>
            <a:cxnLst/>
            <a:rect l="l" t="t" r="r" b="b"/>
            <a:pathLst>
              <a:path w="319046" h="319046">
                <a:moveTo>
                  <a:pt x="0" y="0"/>
                </a:moveTo>
                <a:lnTo>
                  <a:pt x="319045" y="0"/>
                </a:lnTo>
                <a:lnTo>
                  <a:pt x="319045" y="319046"/>
                </a:lnTo>
                <a:lnTo>
                  <a:pt x="0" y="31904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2" name="TextBox 12"/>
          <p:cNvSpPr txBox="1"/>
          <p:nvPr/>
        </p:nvSpPr>
        <p:spPr>
          <a:xfrm>
            <a:off x="12846786" y="5294114"/>
            <a:ext cx="4065018" cy="600075"/>
          </a:xfrm>
          <a:prstGeom prst="rect">
            <a:avLst/>
          </a:prstGeom>
        </p:spPr>
        <p:txBody>
          <a:bodyPr lIns="0" tIns="0" rIns="0" bIns="0" rtlCol="0" anchor="t">
            <a:spAutoFit/>
          </a:bodyPr>
          <a:lstStyle/>
          <a:p>
            <a:pPr marL="0" lvl="0" indent="0" algn="l">
              <a:lnSpc>
                <a:spcPts val="1643"/>
              </a:lnSpc>
            </a:pPr>
            <a:r>
              <a:rPr lang="en-US" sz="1369" spc="-13" dirty="0">
                <a:solidFill>
                  <a:srgbClr val="FFFFFF"/>
                </a:solidFill>
                <a:latin typeface="TT Hoves"/>
                <a:ea typeface="TT Hoves"/>
                <a:cs typeface="TT Hoves"/>
                <a:sym typeface="TT Hoves"/>
              </a:rPr>
              <a:t>Incoming inference requests are received via REST/</a:t>
            </a:r>
            <a:r>
              <a:rPr lang="en-US" sz="1369" spc="-13" dirty="0" err="1">
                <a:solidFill>
                  <a:srgbClr val="FFFFFF"/>
                </a:solidFill>
                <a:latin typeface="TT Hoves"/>
                <a:ea typeface="TT Hoves"/>
                <a:cs typeface="TT Hoves"/>
                <a:sym typeface="TT Hoves"/>
              </a:rPr>
              <a:t>gRPC</a:t>
            </a:r>
            <a:r>
              <a:rPr lang="en-US" sz="1369" spc="-13" dirty="0">
                <a:solidFill>
                  <a:srgbClr val="FFFFFF"/>
                </a:solidFill>
                <a:latin typeface="TT Hoves"/>
                <a:ea typeface="TT Hoves"/>
                <a:cs typeface="TT Hoves"/>
                <a:sym typeface="TT Hoves"/>
              </a:rPr>
              <a:t> APIs, validated, and intelligently routed to the optimal model instance based on load and latency.</a:t>
            </a:r>
          </a:p>
        </p:txBody>
      </p:sp>
      <p:sp>
        <p:nvSpPr>
          <p:cNvPr id="13" name="TextBox 13"/>
          <p:cNvSpPr txBox="1"/>
          <p:nvPr/>
        </p:nvSpPr>
        <p:spPr>
          <a:xfrm>
            <a:off x="15177518" y="3279823"/>
            <a:ext cx="2081782" cy="400050"/>
          </a:xfrm>
          <a:prstGeom prst="rect">
            <a:avLst/>
          </a:prstGeom>
        </p:spPr>
        <p:txBody>
          <a:bodyPr lIns="0" tIns="0" rIns="0" bIns="0" rtlCol="0" anchor="t">
            <a:spAutoFit/>
          </a:bodyPr>
          <a:lstStyle/>
          <a:p>
            <a:pPr marL="0" lvl="0" indent="0" algn="l">
              <a:lnSpc>
                <a:spcPts val="1643"/>
              </a:lnSpc>
              <a:spcBef>
                <a:spcPct val="0"/>
              </a:spcBef>
            </a:pPr>
            <a:r>
              <a:rPr lang="en-US" sz="1369" b="1" i="1" u="none" strike="noStrike">
                <a:solidFill>
                  <a:srgbClr val="FFFFFF"/>
                </a:solidFill>
                <a:latin typeface="TT Hoves Bold Italics"/>
                <a:ea typeface="TT Hoves Bold Italics"/>
                <a:cs typeface="TT Hoves Bold Italics"/>
                <a:sym typeface="TT Hoves Bold Italics"/>
              </a:rPr>
              <a:t>THE INFERENCE FLOW PIPELINE</a:t>
            </a:r>
          </a:p>
        </p:txBody>
      </p:sp>
      <p:sp>
        <p:nvSpPr>
          <p:cNvPr id="14" name="TextBox 14"/>
          <p:cNvSpPr txBox="1"/>
          <p:nvPr/>
        </p:nvSpPr>
        <p:spPr>
          <a:xfrm>
            <a:off x="12846786" y="4891017"/>
            <a:ext cx="4065018" cy="200025"/>
          </a:xfrm>
          <a:prstGeom prst="rect">
            <a:avLst/>
          </a:prstGeom>
        </p:spPr>
        <p:txBody>
          <a:bodyPr lIns="0" tIns="0" rIns="0" bIns="0" rtlCol="0" anchor="t">
            <a:spAutoFit/>
          </a:bodyPr>
          <a:lstStyle/>
          <a:p>
            <a:pPr marL="0" lvl="0" indent="0" algn="l">
              <a:lnSpc>
                <a:spcPts val="1643"/>
              </a:lnSpc>
            </a:pPr>
            <a:r>
              <a:rPr lang="en-US" sz="1369" spc="-13">
                <a:solidFill>
                  <a:srgbClr val="FFFFFF"/>
                </a:solidFill>
                <a:latin typeface="TT Hoves"/>
                <a:ea typeface="TT Hoves"/>
                <a:cs typeface="TT Hoves"/>
                <a:sym typeface="TT Hoves"/>
              </a:rPr>
              <a:t>REQUEST INGESTION &amp; MODEL ROUTING</a:t>
            </a:r>
          </a:p>
        </p:txBody>
      </p:sp>
      <p:sp>
        <p:nvSpPr>
          <p:cNvPr id="15" name="TextBox 15"/>
          <p:cNvSpPr txBox="1"/>
          <p:nvPr/>
        </p:nvSpPr>
        <p:spPr>
          <a:xfrm>
            <a:off x="12846786" y="6860943"/>
            <a:ext cx="4065018" cy="600075"/>
          </a:xfrm>
          <a:prstGeom prst="rect">
            <a:avLst/>
          </a:prstGeom>
        </p:spPr>
        <p:txBody>
          <a:bodyPr lIns="0" tIns="0" rIns="0" bIns="0" rtlCol="0" anchor="t">
            <a:spAutoFit/>
          </a:bodyPr>
          <a:lstStyle/>
          <a:p>
            <a:pPr marL="0" lvl="0" indent="0" algn="l">
              <a:lnSpc>
                <a:spcPts val="1643"/>
              </a:lnSpc>
            </a:pPr>
            <a:r>
              <a:rPr lang="en-US" sz="1369" spc="-13" dirty="0">
                <a:solidFill>
                  <a:srgbClr val="FFFFFF"/>
                </a:solidFill>
                <a:latin typeface="TT Hoves"/>
                <a:ea typeface="TT Hoves"/>
                <a:cs typeface="TT Hoves"/>
                <a:sym typeface="TT Hoves"/>
              </a:rPr>
              <a:t>Requests are processed across multiple GPU nodes in parallel, with automatic load balancing ensuring optimal resource utilization and minimal latency.</a:t>
            </a:r>
          </a:p>
        </p:txBody>
      </p:sp>
      <p:sp>
        <p:nvSpPr>
          <p:cNvPr id="16" name="TextBox 16"/>
          <p:cNvSpPr txBox="1"/>
          <p:nvPr/>
        </p:nvSpPr>
        <p:spPr>
          <a:xfrm>
            <a:off x="12846786" y="6457846"/>
            <a:ext cx="4065018" cy="200025"/>
          </a:xfrm>
          <a:prstGeom prst="rect">
            <a:avLst/>
          </a:prstGeom>
        </p:spPr>
        <p:txBody>
          <a:bodyPr lIns="0" tIns="0" rIns="0" bIns="0" rtlCol="0" anchor="t">
            <a:spAutoFit/>
          </a:bodyPr>
          <a:lstStyle/>
          <a:p>
            <a:pPr marL="0" lvl="0" indent="0" algn="l">
              <a:lnSpc>
                <a:spcPts val="1643"/>
              </a:lnSpc>
            </a:pPr>
            <a:r>
              <a:rPr lang="en-US" sz="1369" spc="-13">
                <a:solidFill>
                  <a:srgbClr val="FFFFFF"/>
                </a:solidFill>
                <a:latin typeface="TT Hoves"/>
                <a:ea typeface="TT Hoves"/>
                <a:cs typeface="TT Hoves"/>
                <a:sym typeface="TT Hoves"/>
              </a:rPr>
              <a:t>DISTRIBUTED EXECUTION</a:t>
            </a:r>
          </a:p>
        </p:txBody>
      </p:sp>
      <p:sp>
        <p:nvSpPr>
          <p:cNvPr id="17" name="TextBox 17"/>
          <p:cNvSpPr txBox="1"/>
          <p:nvPr/>
        </p:nvSpPr>
        <p:spPr>
          <a:xfrm>
            <a:off x="12846786" y="8295063"/>
            <a:ext cx="4065018" cy="600075"/>
          </a:xfrm>
          <a:prstGeom prst="rect">
            <a:avLst/>
          </a:prstGeom>
        </p:spPr>
        <p:txBody>
          <a:bodyPr lIns="0" tIns="0" rIns="0" bIns="0" rtlCol="0" anchor="t">
            <a:spAutoFit/>
          </a:bodyPr>
          <a:lstStyle/>
          <a:p>
            <a:pPr marL="0" lvl="0" indent="0" algn="l">
              <a:lnSpc>
                <a:spcPts val="1643"/>
              </a:lnSpc>
            </a:pPr>
            <a:r>
              <a:rPr lang="en-US" sz="1369" spc="-13">
                <a:solidFill>
                  <a:srgbClr val="FFFFFF"/>
                </a:solidFill>
                <a:latin typeface="TT Hoves"/>
                <a:ea typeface="TT Hoves"/>
                <a:cs typeface="TT Hoves"/>
                <a:sym typeface="TT Hoves"/>
              </a:rPr>
              <a:t>Results from distributed workers are collected, merged, and formatted before being returned to the client with full tracing and performance metrics.</a:t>
            </a:r>
          </a:p>
        </p:txBody>
      </p:sp>
      <p:sp>
        <p:nvSpPr>
          <p:cNvPr id="18" name="TextBox 18"/>
          <p:cNvSpPr txBox="1"/>
          <p:nvPr/>
        </p:nvSpPr>
        <p:spPr>
          <a:xfrm>
            <a:off x="12846786" y="7891966"/>
            <a:ext cx="4065018" cy="200025"/>
          </a:xfrm>
          <a:prstGeom prst="rect">
            <a:avLst/>
          </a:prstGeom>
        </p:spPr>
        <p:txBody>
          <a:bodyPr lIns="0" tIns="0" rIns="0" bIns="0" rtlCol="0" anchor="t">
            <a:spAutoFit/>
          </a:bodyPr>
          <a:lstStyle/>
          <a:p>
            <a:pPr marL="0" lvl="0" indent="0" algn="l">
              <a:lnSpc>
                <a:spcPts val="1643"/>
              </a:lnSpc>
            </a:pPr>
            <a:r>
              <a:rPr lang="en-US" sz="1369" spc="-13">
                <a:solidFill>
                  <a:srgbClr val="FFFFFF"/>
                </a:solidFill>
                <a:latin typeface="TT Hoves"/>
                <a:ea typeface="TT Hoves"/>
                <a:cs typeface="TT Hoves"/>
                <a:sym typeface="TT Hoves"/>
              </a:rPr>
              <a:t>RESPONSE AGGREGATION</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down)">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down)">
                                      <p:cBhvr>
                                        <p:cTn id="15" dur="500"/>
                                        <p:tgtEl>
                                          <p:spTgt spid="15"/>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wipe(down)">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wipe(down)">
                                      <p:cBhvr>
                                        <p:cTn id="23" dur="500"/>
                                        <p:tgtEl>
                                          <p:spTgt spid="17"/>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wipe(down)">
                                      <p:cBhvr>
                                        <p:cTn id="2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5" grpId="0"/>
      <p:bldP spid="16" grpId="0"/>
      <p:bldP spid="17" grpId="0"/>
      <p:bldP spid="18"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11E6805-E335-7776-D90D-8F073267D230}"/>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49B447FE-DDA9-4B30-828A-59FC56912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18288000" cy="10286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C3D487F7-9050-4871-B351-34A72ADB29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726" y="-1"/>
            <a:ext cx="9144003" cy="10286999"/>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F43C27DD-EF6A-4C48-9669-C2970E71A8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29326" y="914402"/>
            <a:ext cx="10287005" cy="8458202"/>
          </a:xfrm>
          <a:prstGeom prst="rect">
            <a:avLst/>
          </a:prstGeom>
          <a:gradFill>
            <a:gsLst>
              <a:gs pos="0">
                <a:schemeClr val="accent1">
                  <a:alpha val="23000"/>
                </a:schemeClr>
              </a:gs>
              <a:gs pos="71000">
                <a:schemeClr val="accent1">
                  <a:lumMod val="50000"/>
                  <a:alpha val="0"/>
                </a:schemeClr>
              </a:gs>
              <a:gs pos="100000">
                <a:srgbClr val="000000">
                  <a:alpha val="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05A1AA86-B7E6-4C02-AA34-F1A25CD4CC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1277" y="3326925"/>
            <a:ext cx="9155277" cy="6960073"/>
          </a:xfrm>
          <a:prstGeom prst="rect">
            <a:avLst/>
          </a:prstGeom>
          <a:gradFill>
            <a:gsLst>
              <a:gs pos="0">
                <a:schemeClr val="accent1">
                  <a:alpha val="0"/>
                </a:schemeClr>
              </a:gs>
              <a:gs pos="72000">
                <a:srgbClr val="000000">
                  <a:alpha val="21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86C3B9CB-4E48-4726-B7B9-9E02F71B15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4137312">
            <a:off x="847859" y="1817133"/>
            <a:ext cx="6960732" cy="6960732"/>
          </a:xfrm>
          <a:prstGeom prst="ellipse">
            <a:avLst/>
          </a:prstGeom>
          <a:gradFill>
            <a:gsLst>
              <a:gs pos="53000">
                <a:schemeClr val="accent1">
                  <a:alpha val="0"/>
                </a:schemeClr>
              </a:gs>
              <a:gs pos="100000">
                <a:schemeClr val="accent1">
                  <a:lumMod val="40000"/>
                  <a:lumOff val="60000"/>
                  <a:alpha val="1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C84384FE-1C88-4CAA-8FB8-2313A3AE73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1278" y="0"/>
            <a:ext cx="9155278" cy="10306050"/>
          </a:xfrm>
          <a:prstGeom prst="rect">
            <a:avLst/>
          </a:prstGeom>
          <a:gradFill>
            <a:gsLst>
              <a:gs pos="24000">
                <a:schemeClr val="accent1">
                  <a:alpha val="0"/>
                </a:schemeClr>
              </a:gs>
              <a:gs pos="100000">
                <a:srgbClr val="000000">
                  <a:alpha val="71000"/>
                </a:srgb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714B63BB-729A-E9EB-277F-9F59D728F674}"/>
              </a:ext>
            </a:extLst>
          </p:cNvPr>
          <p:cNvPicPr>
            <a:picLocks noChangeAspect="1"/>
          </p:cNvPicPr>
          <p:nvPr/>
        </p:nvPicPr>
        <p:blipFill>
          <a:blip r:embed="rId2"/>
          <a:srcRect t="2880" r="-1" b="1053"/>
          <a:stretch>
            <a:fillRect/>
          </a:stretch>
        </p:blipFill>
        <p:spPr>
          <a:xfrm>
            <a:off x="9829798" y="685800"/>
            <a:ext cx="7772403" cy="8915400"/>
          </a:xfrm>
          <a:prstGeom prst="rect">
            <a:avLst/>
          </a:prstGeom>
        </p:spPr>
      </p:pic>
      <p:sp>
        <p:nvSpPr>
          <p:cNvPr id="7" name="Title 6">
            <a:extLst>
              <a:ext uri="{FF2B5EF4-FFF2-40B4-BE49-F238E27FC236}">
                <a16:creationId xmlns:a16="http://schemas.microsoft.com/office/drawing/2014/main" id="{495C2217-15C5-D606-2DD4-1D60C9603204}"/>
              </a:ext>
            </a:extLst>
          </p:cNvPr>
          <p:cNvSpPr>
            <a:spLocks noGrp="1"/>
          </p:cNvSpPr>
          <p:nvPr>
            <p:ph type="ctrTitle"/>
          </p:nvPr>
        </p:nvSpPr>
        <p:spPr>
          <a:xfrm>
            <a:off x="719842" y="1382642"/>
            <a:ext cx="7772400" cy="1470025"/>
          </a:xfrm>
        </p:spPr>
        <p:txBody>
          <a:bodyPr/>
          <a:lstStyle/>
          <a:p>
            <a:r>
              <a:rPr lang="en-US" dirty="0">
                <a:solidFill>
                  <a:srgbClr val="FFFFFF"/>
                </a:solidFill>
                <a:latin typeface="TT Autonomous"/>
                <a:ea typeface="TT Autonomous"/>
                <a:cs typeface="TT Autonomous"/>
                <a:sym typeface="TT Autonomous"/>
              </a:rPr>
              <a:t>ARCHITECTURE</a:t>
            </a:r>
            <a:br>
              <a:rPr lang="en-US" dirty="0">
                <a:solidFill>
                  <a:srgbClr val="FFFFFF"/>
                </a:solidFill>
                <a:latin typeface="TT Autonomous"/>
                <a:ea typeface="TT Autonomous"/>
                <a:cs typeface="TT Autonomous"/>
                <a:sym typeface="TT Autonomous"/>
              </a:rPr>
            </a:br>
            <a:endParaRPr lang="en-IN" dirty="0"/>
          </a:p>
        </p:txBody>
      </p:sp>
    </p:spTree>
    <p:extLst>
      <p:ext uri="{BB962C8B-B14F-4D97-AF65-F5344CB8AC3E}">
        <p14:creationId xmlns:p14="http://schemas.microsoft.com/office/powerpoint/2010/main" val="14915432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4" name="Group 4"/>
          <p:cNvGrpSpPr/>
          <p:nvPr/>
        </p:nvGrpSpPr>
        <p:grpSpPr>
          <a:xfrm>
            <a:off x="1028700" y="1028700"/>
            <a:ext cx="5995451" cy="6336385"/>
            <a:chOff x="0" y="0"/>
            <a:chExt cx="1484706" cy="1569135"/>
          </a:xfrm>
        </p:grpSpPr>
        <p:sp>
          <p:nvSpPr>
            <p:cNvPr id="5" name="Freeform 5"/>
            <p:cNvSpPr/>
            <p:nvPr/>
          </p:nvSpPr>
          <p:spPr>
            <a:xfrm>
              <a:off x="0" y="0"/>
              <a:ext cx="1484706" cy="1569133"/>
            </a:xfrm>
            <a:custGeom>
              <a:avLst/>
              <a:gdLst/>
              <a:ahLst/>
              <a:cxnLst/>
              <a:rect l="l" t="t" r="r" b="b"/>
              <a:pathLst>
                <a:path w="1484706" h="1569133">
                  <a:moveTo>
                    <a:pt x="1379836" y="0"/>
                  </a:moveTo>
                  <a:lnTo>
                    <a:pt x="104870" y="0"/>
                  </a:lnTo>
                  <a:cubicBezTo>
                    <a:pt x="46952" y="0"/>
                    <a:pt x="0" y="46952"/>
                    <a:pt x="0" y="104870"/>
                  </a:cubicBezTo>
                  <a:lnTo>
                    <a:pt x="0" y="464773"/>
                  </a:lnTo>
                  <a:lnTo>
                    <a:pt x="0" y="1464263"/>
                  </a:lnTo>
                  <a:cubicBezTo>
                    <a:pt x="1" y="1522181"/>
                    <a:pt x="46952" y="1569133"/>
                    <a:pt x="104870" y="1569133"/>
                  </a:cubicBezTo>
                  <a:lnTo>
                    <a:pt x="905328" y="1569133"/>
                  </a:lnTo>
                  <a:cubicBezTo>
                    <a:pt x="963246" y="1569133"/>
                    <a:pt x="1010198" y="1522182"/>
                    <a:pt x="1010199" y="1464264"/>
                  </a:cubicBezTo>
                  <a:lnTo>
                    <a:pt x="1010199" y="569643"/>
                  </a:lnTo>
                  <a:cubicBezTo>
                    <a:pt x="1010198" y="541830"/>
                    <a:pt x="1021247" y="515156"/>
                    <a:pt x="1040914" y="495488"/>
                  </a:cubicBezTo>
                  <a:cubicBezTo>
                    <a:pt x="1060581" y="475821"/>
                    <a:pt x="1087255" y="464773"/>
                    <a:pt x="1115069" y="464773"/>
                  </a:cubicBezTo>
                  <a:lnTo>
                    <a:pt x="1379836" y="464773"/>
                  </a:lnTo>
                  <a:cubicBezTo>
                    <a:pt x="1437754" y="464772"/>
                    <a:pt x="1484705" y="417821"/>
                    <a:pt x="1484706" y="359903"/>
                  </a:cubicBezTo>
                  <a:lnTo>
                    <a:pt x="1484706" y="104870"/>
                  </a:lnTo>
                  <a:cubicBezTo>
                    <a:pt x="1484706" y="46952"/>
                    <a:pt x="1437754" y="0"/>
                    <a:pt x="1379836" y="0"/>
                  </a:cubicBezTo>
                  <a:close/>
                </a:path>
              </a:pathLst>
            </a:custGeom>
            <a:blipFill>
              <a:blip r:embed="rId2"/>
              <a:stretch>
                <a:fillRect l="-2843" r="-2843"/>
              </a:stretch>
            </a:blipFill>
          </p:spPr>
          <p:txBody>
            <a:bodyPr/>
            <a:lstStyle/>
            <a:p>
              <a:endParaRPr lang="en-IN"/>
            </a:p>
          </p:txBody>
        </p:sp>
      </p:grpSp>
      <p:grpSp>
        <p:nvGrpSpPr>
          <p:cNvPr id="6" name="Group 6"/>
          <p:cNvGrpSpPr/>
          <p:nvPr/>
        </p:nvGrpSpPr>
        <p:grpSpPr>
          <a:xfrm>
            <a:off x="5641651" y="3448728"/>
            <a:ext cx="2542243" cy="3916357"/>
            <a:chOff x="0" y="0"/>
            <a:chExt cx="669562" cy="1031469"/>
          </a:xfrm>
        </p:grpSpPr>
        <p:sp>
          <p:nvSpPr>
            <p:cNvPr id="7" name="Freeform 7"/>
            <p:cNvSpPr/>
            <p:nvPr/>
          </p:nvSpPr>
          <p:spPr>
            <a:xfrm>
              <a:off x="0" y="0"/>
              <a:ext cx="669562" cy="1031469"/>
            </a:xfrm>
            <a:custGeom>
              <a:avLst/>
              <a:gdLst/>
              <a:ahLst/>
              <a:cxnLst/>
              <a:rect l="l" t="t" r="r" b="b"/>
              <a:pathLst>
                <a:path w="669562" h="1031469">
                  <a:moveTo>
                    <a:pt x="106586" y="0"/>
                  </a:moveTo>
                  <a:lnTo>
                    <a:pt x="562976" y="0"/>
                  </a:lnTo>
                  <a:cubicBezTo>
                    <a:pt x="591244" y="0"/>
                    <a:pt x="618355" y="11230"/>
                    <a:pt x="638344" y="31218"/>
                  </a:cubicBezTo>
                  <a:cubicBezTo>
                    <a:pt x="658332" y="51207"/>
                    <a:pt x="669562" y="78318"/>
                    <a:pt x="669562" y="106586"/>
                  </a:cubicBezTo>
                  <a:lnTo>
                    <a:pt x="669562" y="924883"/>
                  </a:lnTo>
                  <a:cubicBezTo>
                    <a:pt x="669562" y="983748"/>
                    <a:pt x="621842" y="1031469"/>
                    <a:pt x="562976" y="1031469"/>
                  </a:cubicBezTo>
                  <a:lnTo>
                    <a:pt x="106586" y="1031469"/>
                  </a:lnTo>
                  <a:cubicBezTo>
                    <a:pt x="47720" y="1031469"/>
                    <a:pt x="0" y="983748"/>
                    <a:pt x="0" y="924883"/>
                  </a:cubicBezTo>
                  <a:lnTo>
                    <a:pt x="0" y="106586"/>
                  </a:lnTo>
                  <a:cubicBezTo>
                    <a:pt x="0" y="47720"/>
                    <a:pt x="47720" y="0"/>
                    <a:pt x="106586" y="0"/>
                  </a:cubicBezTo>
                  <a:close/>
                </a:path>
              </a:pathLst>
            </a:custGeom>
            <a:solidFill>
              <a:srgbClr val="000000"/>
            </a:solidFill>
            <a:ln w="9525" cap="rnd">
              <a:solidFill>
                <a:srgbClr val="737373"/>
              </a:solidFill>
              <a:prstDash val="solid"/>
              <a:round/>
            </a:ln>
          </p:spPr>
          <p:txBody>
            <a:bodyPr/>
            <a:lstStyle/>
            <a:p>
              <a:endParaRPr lang="en-IN"/>
            </a:p>
          </p:txBody>
        </p:sp>
        <p:sp>
          <p:nvSpPr>
            <p:cNvPr id="8" name="TextBox 8"/>
            <p:cNvSpPr txBox="1"/>
            <p:nvPr/>
          </p:nvSpPr>
          <p:spPr>
            <a:xfrm>
              <a:off x="0" y="19050"/>
              <a:ext cx="669562" cy="1012419"/>
            </a:xfrm>
            <a:prstGeom prst="rect">
              <a:avLst/>
            </a:prstGeom>
          </p:spPr>
          <p:txBody>
            <a:bodyPr lIns="50800" tIns="50800" rIns="50800" bIns="50800" rtlCol="0" anchor="ctr"/>
            <a:lstStyle/>
            <a:p>
              <a:pPr marL="0" lvl="0" indent="0" algn="ctr">
                <a:lnSpc>
                  <a:spcPts val="1400"/>
                </a:lnSpc>
              </a:pPr>
              <a:endParaRPr/>
            </a:p>
          </p:txBody>
        </p:sp>
      </p:grpSp>
      <p:grpSp>
        <p:nvGrpSpPr>
          <p:cNvPr id="9" name="Group 9"/>
          <p:cNvGrpSpPr/>
          <p:nvPr/>
        </p:nvGrpSpPr>
        <p:grpSpPr>
          <a:xfrm>
            <a:off x="5865790" y="3688271"/>
            <a:ext cx="2093965" cy="3437271"/>
            <a:chOff x="0" y="0"/>
            <a:chExt cx="324410" cy="532523"/>
          </a:xfrm>
        </p:grpSpPr>
        <p:sp>
          <p:nvSpPr>
            <p:cNvPr id="10" name="Freeform 10"/>
            <p:cNvSpPr/>
            <p:nvPr/>
          </p:nvSpPr>
          <p:spPr>
            <a:xfrm>
              <a:off x="0" y="0"/>
              <a:ext cx="324410" cy="532523"/>
            </a:xfrm>
            <a:custGeom>
              <a:avLst/>
              <a:gdLst/>
              <a:ahLst/>
              <a:cxnLst/>
              <a:rect l="l" t="t" r="r" b="b"/>
              <a:pathLst>
                <a:path w="324410" h="532523">
                  <a:moveTo>
                    <a:pt x="162205" y="0"/>
                  </a:moveTo>
                  <a:lnTo>
                    <a:pt x="162205" y="0"/>
                  </a:lnTo>
                  <a:cubicBezTo>
                    <a:pt x="205224" y="0"/>
                    <a:pt x="246482" y="17089"/>
                    <a:pt x="276901" y="47509"/>
                  </a:cubicBezTo>
                  <a:cubicBezTo>
                    <a:pt x="307321" y="77928"/>
                    <a:pt x="324410" y="119186"/>
                    <a:pt x="324410" y="162205"/>
                  </a:cubicBezTo>
                  <a:lnTo>
                    <a:pt x="324410" y="370318"/>
                  </a:lnTo>
                  <a:cubicBezTo>
                    <a:pt x="324410" y="413338"/>
                    <a:pt x="307321" y="454595"/>
                    <a:pt x="276901" y="485014"/>
                  </a:cubicBezTo>
                  <a:cubicBezTo>
                    <a:pt x="246482" y="515434"/>
                    <a:pt x="205224" y="532523"/>
                    <a:pt x="162205" y="532523"/>
                  </a:cubicBezTo>
                  <a:lnTo>
                    <a:pt x="162205" y="532523"/>
                  </a:lnTo>
                  <a:cubicBezTo>
                    <a:pt x="119186" y="532523"/>
                    <a:pt x="77928" y="515434"/>
                    <a:pt x="47509" y="485014"/>
                  </a:cubicBezTo>
                  <a:cubicBezTo>
                    <a:pt x="17089" y="454595"/>
                    <a:pt x="0" y="413338"/>
                    <a:pt x="0" y="370318"/>
                  </a:cubicBezTo>
                  <a:lnTo>
                    <a:pt x="0" y="162205"/>
                  </a:lnTo>
                  <a:cubicBezTo>
                    <a:pt x="0" y="119186"/>
                    <a:pt x="17089" y="77928"/>
                    <a:pt x="47509" y="47509"/>
                  </a:cubicBezTo>
                  <a:cubicBezTo>
                    <a:pt x="77928" y="17089"/>
                    <a:pt x="119186" y="0"/>
                    <a:pt x="162205" y="0"/>
                  </a:cubicBezTo>
                  <a:close/>
                </a:path>
              </a:pathLst>
            </a:custGeom>
            <a:blipFill>
              <a:blip r:embed="rId3"/>
              <a:stretch>
                <a:fillRect t="-3438" b="-3438"/>
              </a:stretch>
            </a:blipFill>
          </p:spPr>
          <p:txBody>
            <a:bodyPr/>
            <a:lstStyle/>
            <a:p>
              <a:endParaRPr lang="en-IN"/>
            </a:p>
          </p:txBody>
        </p:sp>
      </p:grpSp>
      <p:sp>
        <p:nvSpPr>
          <p:cNvPr id="12" name="TextBox 12"/>
          <p:cNvSpPr txBox="1"/>
          <p:nvPr/>
        </p:nvSpPr>
        <p:spPr>
          <a:xfrm>
            <a:off x="1028700" y="8100721"/>
            <a:ext cx="4612951" cy="693067"/>
          </a:xfrm>
          <a:prstGeom prst="rect">
            <a:avLst/>
          </a:prstGeom>
        </p:spPr>
        <p:txBody>
          <a:bodyPr lIns="0" tIns="0" rIns="0" bIns="0" rtlCol="0" anchor="t">
            <a:spAutoFit/>
          </a:bodyPr>
          <a:lstStyle/>
          <a:p>
            <a:pPr marL="0" lvl="0" indent="0" algn="l">
              <a:lnSpc>
                <a:spcPts val="5277"/>
              </a:lnSpc>
            </a:pPr>
            <a:r>
              <a:rPr lang="en-US" sz="5277" b="1">
                <a:solidFill>
                  <a:srgbClr val="FFFFFF"/>
                </a:solidFill>
                <a:latin typeface="TT Autonomous Bold"/>
                <a:ea typeface="TT Autonomous Bold"/>
                <a:cs typeface="TT Autonomous Bold"/>
                <a:sym typeface="TT Autonomous Bold"/>
              </a:rPr>
              <a:t>CORE</a:t>
            </a:r>
          </a:p>
        </p:txBody>
      </p:sp>
      <p:sp>
        <p:nvSpPr>
          <p:cNvPr id="13" name="TextBox 13"/>
          <p:cNvSpPr txBox="1"/>
          <p:nvPr/>
        </p:nvSpPr>
        <p:spPr>
          <a:xfrm>
            <a:off x="1028700" y="8733465"/>
            <a:ext cx="7921062" cy="693067"/>
          </a:xfrm>
          <a:prstGeom prst="rect">
            <a:avLst/>
          </a:prstGeom>
        </p:spPr>
        <p:txBody>
          <a:bodyPr lIns="0" tIns="0" rIns="0" bIns="0" rtlCol="0" anchor="t">
            <a:spAutoFit/>
          </a:bodyPr>
          <a:lstStyle/>
          <a:p>
            <a:pPr marL="0" lvl="0" indent="0" algn="l">
              <a:lnSpc>
                <a:spcPts val="5277"/>
              </a:lnSpc>
            </a:pPr>
            <a:r>
              <a:rPr lang="en-US" sz="5277" dirty="0">
                <a:solidFill>
                  <a:srgbClr val="FFFFFF"/>
                </a:solidFill>
                <a:latin typeface="TT Autonomous"/>
                <a:ea typeface="TT Autonomous"/>
                <a:cs typeface="TT Autonomous"/>
                <a:sym typeface="TT Autonomous"/>
              </a:rPr>
              <a:t>COMPONENTS</a:t>
            </a:r>
          </a:p>
        </p:txBody>
      </p:sp>
      <p:sp>
        <p:nvSpPr>
          <p:cNvPr id="15" name="TextBox 15"/>
          <p:cNvSpPr txBox="1"/>
          <p:nvPr/>
        </p:nvSpPr>
        <p:spPr>
          <a:xfrm>
            <a:off x="8949762" y="3086100"/>
            <a:ext cx="7231529" cy="2887329"/>
          </a:xfrm>
          <a:prstGeom prst="rect">
            <a:avLst/>
          </a:prstGeom>
        </p:spPr>
        <p:txBody>
          <a:bodyPr wrap="square" lIns="0" tIns="0" rIns="0" bIns="0" rtlCol="0" anchor="t">
            <a:spAutoFit/>
          </a:bodyPr>
          <a:lstStyle/>
          <a:p>
            <a:pPr marL="285750" lvl="0" indent="-285750">
              <a:lnSpc>
                <a:spcPts val="1678"/>
              </a:lnSpc>
              <a:buFont typeface="Wingdings" panose="05000000000000000000" pitchFamily="2" charset="2"/>
              <a:buChar char="§"/>
            </a:pPr>
            <a:r>
              <a:rPr lang="en-IN" sz="2800" b="1" dirty="0">
                <a:solidFill>
                  <a:schemeClr val="bg1"/>
                </a:solidFill>
                <a:latin typeface="ISOCT" panose="00000400000000000000" pitchFamily="2" charset="0"/>
                <a:cs typeface="ISOCT" panose="00000400000000000000" pitchFamily="2" charset="0"/>
              </a:rPr>
              <a:t>Async TCP Server</a:t>
            </a:r>
          </a:p>
          <a:p>
            <a:pPr marL="285750" lvl="0" indent="-285750">
              <a:lnSpc>
                <a:spcPts val="1678"/>
              </a:lnSpc>
              <a:buFont typeface="Wingdings" panose="05000000000000000000" pitchFamily="2" charset="2"/>
              <a:buChar char="§"/>
            </a:pPr>
            <a:endParaRPr lang="en-IN" sz="2800" b="1" dirty="0">
              <a:solidFill>
                <a:schemeClr val="bg1"/>
              </a:solidFill>
              <a:latin typeface="ISOCT" panose="00000400000000000000" pitchFamily="2" charset="0"/>
              <a:cs typeface="ISOCT" panose="00000400000000000000" pitchFamily="2" charset="0"/>
            </a:endParaRPr>
          </a:p>
          <a:p>
            <a:pPr marL="285750" lvl="0" indent="-285750">
              <a:lnSpc>
                <a:spcPts val="1678"/>
              </a:lnSpc>
              <a:buFont typeface="Wingdings" panose="05000000000000000000" pitchFamily="2" charset="2"/>
              <a:buChar char="§"/>
            </a:pPr>
            <a:endParaRPr lang="en-IN" sz="2800" b="1" dirty="0">
              <a:solidFill>
                <a:schemeClr val="bg1"/>
              </a:solidFill>
              <a:latin typeface="ISOCT" panose="00000400000000000000" pitchFamily="2" charset="0"/>
              <a:cs typeface="ISOCT" panose="00000400000000000000" pitchFamily="2" charset="0"/>
            </a:endParaRPr>
          </a:p>
          <a:p>
            <a:pPr marL="285750" lvl="0" indent="-285750">
              <a:lnSpc>
                <a:spcPts val="1678"/>
              </a:lnSpc>
              <a:buFont typeface="Wingdings" panose="05000000000000000000" pitchFamily="2" charset="2"/>
              <a:buChar char="§"/>
            </a:pPr>
            <a:r>
              <a:rPr lang="en-IN" sz="2800" b="1" dirty="0">
                <a:solidFill>
                  <a:schemeClr val="bg1"/>
                </a:solidFill>
                <a:latin typeface="ISOCT" panose="00000400000000000000" pitchFamily="2" charset="0"/>
                <a:cs typeface="ISOCT" panose="00000400000000000000" pitchFamily="2" charset="0"/>
              </a:rPr>
              <a:t>CPU Preprocessing Pool</a:t>
            </a:r>
          </a:p>
          <a:p>
            <a:pPr marL="285750" lvl="0" indent="-285750">
              <a:lnSpc>
                <a:spcPts val="1678"/>
              </a:lnSpc>
              <a:buFont typeface="Wingdings" panose="05000000000000000000" pitchFamily="2" charset="2"/>
              <a:buChar char="§"/>
            </a:pPr>
            <a:endParaRPr lang="en-IN" sz="2800" b="1" dirty="0">
              <a:solidFill>
                <a:schemeClr val="bg1"/>
              </a:solidFill>
              <a:latin typeface="ISOCT" panose="00000400000000000000" pitchFamily="2" charset="0"/>
              <a:cs typeface="ISOCT" panose="00000400000000000000" pitchFamily="2" charset="0"/>
            </a:endParaRPr>
          </a:p>
          <a:p>
            <a:pPr marL="285750" lvl="0" indent="-285750">
              <a:lnSpc>
                <a:spcPts val="1678"/>
              </a:lnSpc>
              <a:buFont typeface="Wingdings" panose="05000000000000000000" pitchFamily="2" charset="2"/>
              <a:buChar char="§"/>
            </a:pPr>
            <a:endParaRPr lang="en-IN" sz="2800" b="1" dirty="0">
              <a:solidFill>
                <a:schemeClr val="bg1"/>
              </a:solidFill>
              <a:latin typeface="ISOCT" panose="00000400000000000000" pitchFamily="2" charset="0"/>
              <a:cs typeface="ISOCT" panose="00000400000000000000" pitchFamily="2" charset="0"/>
            </a:endParaRPr>
          </a:p>
          <a:p>
            <a:pPr marL="285750" lvl="0" indent="-285750">
              <a:lnSpc>
                <a:spcPts val="1678"/>
              </a:lnSpc>
              <a:buFont typeface="Wingdings" panose="05000000000000000000" pitchFamily="2" charset="2"/>
              <a:buChar char="§"/>
            </a:pPr>
            <a:r>
              <a:rPr lang="en-IN" sz="2800" b="1" dirty="0">
                <a:solidFill>
                  <a:schemeClr val="bg1"/>
                </a:solidFill>
                <a:latin typeface="ISOCT" panose="00000400000000000000" pitchFamily="2" charset="0"/>
                <a:cs typeface="ISOCT" panose="00000400000000000000" pitchFamily="2" charset="0"/>
              </a:rPr>
              <a:t>Dynamic Batch Engine</a:t>
            </a:r>
          </a:p>
          <a:p>
            <a:pPr marL="285750" lvl="0" indent="-285750">
              <a:lnSpc>
                <a:spcPts val="1678"/>
              </a:lnSpc>
              <a:buFont typeface="Wingdings" panose="05000000000000000000" pitchFamily="2" charset="2"/>
              <a:buChar char="§"/>
            </a:pPr>
            <a:endParaRPr lang="en-IN" sz="2800" b="1" dirty="0">
              <a:solidFill>
                <a:schemeClr val="bg1"/>
              </a:solidFill>
              <a:latin typeface="ISOCT" panose="00000400000000000000" pitchFamily="2" charset="0"/>
              <a:cs typeface="ISOCT" panose="00000400000000000000" pitchFamily="2" charset="0"/>
            </a:endParaRPr>
          </a:p>
          <a:p>
            <a:pPr marL="285750" lvl="0" indent="-285750">
              <a:lnSpc>
                <a:spcPts val="1678"/>
              </a:lnSpc>
              <a:buFont typeface="Wingdings" panose="05000000000000000000" pitchFamily="2" charset="2"/>
              <a:buChar char="§"/>
            </a:pPr>
            <a:endParaRPr lang="en-IN" sz="2800" b="1" dirty="0">
              <a:solidFill>
                <a:schemeClr val="bg1"/>
              </a:solidFill>
              <a:latin typeface="ISOCT" panose="00000400000000000000" pitchFamily="2" charset="0"/>
              <a:cs typeface="ISOCT" panose="00000400000000000000" pitchFamily="2" charset="0"/>
            </a:endParaRPr>
          </a:p>
          <a:p>
            <a:pPr marL="285750" lvl="0" indent="-285750">
              <a:lnSpc>
                <a:spcPts val="1678"/>
              </a:lnSpc>
              <a:buFont typeface="Wingdings" panose="05000000000000000000" pitchFamily="2" charset="2"/>
              <a:buChar char="§"/>
            </a:pPr>
            <a:r>
              <a:rPr lang="en-IN" sz="2800" b="1" dirty="0">
                <a:solidFill>
                  <a:schemeClr val="bg1"/>
                </a:solidFill>
                <a:latin typeface="ISOCT" panose="00000400000000000000" pitchFamily="2" charset="0"/>
                <a:cs typeface="ISOCT" panose="00000400000000000000" pitchFamily="2" charset="0"/>
              </a:rPr>
              <a:t>Inference Semaphore</a:t>
            </a:r>
          </a:p>
          <a:p>
            <a:pPr marL="285750" lvl="0" indent="-285750">
              <a:lnSpc>
                <a:spcPts val="1678"/>
              </a:lnSpc>
              <a:buFont typeface="Wingdings" panose="05000000000000000000" pitchFamily="2" charset="2"/>
              <a:buChar char="§"/>
            </a:pPr>
            <a:endParaRPr lang="en-IN" sz="2800" b="1" dirty="0">
              <a:solidFill>
                <a:schemeClr val="bg1"/>
              </a:solidFill>
              <a:latin typeface="ISOCT" panose="00000400000000000000" pitchFamily="2" charset="0"/>
              <a:cs typeface="ISOCT" panose="00000400000000000000" pitchFamily="2" charset="0"/>
            </a:endParaRPr>
          </a:p>
          <a:p>
            <a:pPr marL="285750" lvl="0" indent="-285750">
              <a:lnSpc>
                <a:spcPts val="1678"/>
              </a:lnSpc>
              <a:buFont typeface="Wingdings" panose="05000000000000000000" pitchFamily="2" charset="2"/>
              <a:buChar char="§"/>
            </a:pPr>
            <a:endParaRPr lang="en-IN" sz="2800" b="1" dirty="0">
              <a:solidFill>
                <a:schemeClr val="bg1"/>
              </a:solidFill>
              <a:latin typeface="ISOCT" panose="00000400000000000000" pitchFamily="2" charset="0"/>
              <a:cs typeface="ISOCT" panose="00000400000000000000" pitchFamily="2" charset="0"/>
            </a:endParaRPr>
          </a:p>
          <a:p>
            <a:pPr marL="285750" lvl="0" indent="-285750">
              <a:lnSpc>
                <a:spcPts val="1678"/>
              </a:lnSpc>
              <a:buFont typeface="Wingdings" panose="05000000000000000000" pitchFamily="2" charset="2"/>
              <a:buChar char="§"/>
            </a:pPr>
            <a:r>
              <a:rPr lang="en-IN" sz="2800" b="1" dirty="0">
                <a:solidFill>
                  <a:schemeClr val="bg1"/>
                </a:solidFill>
                <a:latin typeface="ISOCT" panose="00000400000000000000" pitchFamily="2" charset="0"/>
                <a:cs typeface="ISOCT" panose="00000400000000000000" pitchFamily="2" charset="0"/>
              </a:rPr>
              <a:t>Model (ResNet-50)</a:t>
            </a:r>
            <a:endParaRPr lang="en-US" sz="3200" spc="-13" dirty="0">
              <a:solidFill>
                <a:schemeClr val="bg1"/>
              </a:solidFill>
              <a:latin typeface="ISOCT" panose="00000400000000000000" pitchFamily="2" charset="0"/>
              <a:ea typeface="TT Hoves"/>
              <a:cs typeface="ISOCT" panose="00000400000000000000" pitchFamily="2" charset="0"/>
              <a:sym typeface="TT Hoves"/>
            </a:endParaRPr>
          </a:p>
        </p:txBody>
      </p:sp>
      <p:sp>
        <p:nvSpPr>
          <p:cNvPr id="16" name="TextBox 16"/>
          <p:cNvSpPr txBox="1"/>
          <p:nvPr/>
        </p:nvSpPr>
        <p:spPr>
          <a:xfrm>
            <a:off x="8183894" y="1057706"/>
            <a:ext cx="2690915" cy="419100"/>
          </a:xfrm>
          <a:prstGeom prst="rect">
            <a:avLst/>
          </a:prstGeom>
        </p:spPr>
        <p:txBody>
          <a:bodyPr lIns="0" tIns="0" rIns="0" bIns="0" rtlCol="0" anchor="t">
            <a:spAutoFit/>
          </a:bodyPr>
          <a:lstStyle/>
          <a:p>
            <a:pPr marL="0" lvl="0" indent="0" algn="l">
              <a:lnSpc>
                <a:spcPts val="1678"/>
              </a:lnSpc>
              <a:spcBef>
                <a:spcPct val="0"/>
              </a:spcBef>
            </a:pPr>
            <a:r>
              <a:rPr lang="en-US" sz="1399" b="1" i="1" u="none" strike="noStrike" dirty="0">
                <a:solidFill>
                  <a:srgbClr val="FFFFFF"/>
                </a:solidFill>
                <a:latin typeface="TT Hoves Bold Italics"/>
                <a:ea typeface="TT Hoves Bold Italics"/>
                <a:cs typeface="TT Hoves Bold Italics"/>
                <a:sym typeface="TT Hoves Bold Italics"/>
              </a:rPr>
              <a:t>BUILDING BLOCKS OF DISTRIBUTED INFERENCE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ppt_x"/>
                                          </p:val>
                                        </p:tav>
                                        <p:tav tm="100000">
                                          <p:val>
                                            <p:strVal val="#ppt_x"/>
                                          </p:val>
                                        </p:tav>
                                      </p:tavLst>
                                    </p:anim>
                                    <p:anim calcmode="lin" valueType="num">
                                      <p:cBhvr additive="base">
                                        <p:cTn id="1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5"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3377515"/>
            <a:ext cx="6518290" cy="5880785"/>
            <a:chOff x="0" y="0"/>
            <a:chExt cx="1716751" cy="1548849"/>
          </a:xfrm>
        </p:grpSpPr>
        <p:sp>
          <p:nvSpPr>
            <p:cNvPr id="3" name="Freeform 3"/>
            <p:cNvSpPr/>
            <p:nvPr/>
          </p:nvSpPr>
          <p:spPr>
            <a:xfrm>
              <a:off x="0" y="0"/>
              <a:ext cx="1716751" cy="1548849"/>
            </a:xfrm>
            <a:custGeom>
              <a:avLst/>
              <a:gdLst/>
              <a:ahLst/>
              <a:cxnLst/>
              <a:rect l="l" t="t" r="r" b="b"/>
              <a:pathLst>
                <a:path w="1716751" h="1548849">
                  <a:moveTo>
                    <a:pt x="41570" y="0"/>
                  </a:moveTo>
                  <a:lnTo>
                    <a:pt x="1675181" y="0"/>
                  </a:lnTo>
                  <a:cubicBezTo>
                    <a:pt x="1698140" y="0"/>
                    <a:pt x="1716751" y="18612"/>
                    <a:pt x="1716751" y="41570"/>
                  </a:cubicBezTo>
                  <a:lnTo>
                    <a:pt x="1716751" y="1507278"/>
                  </a:lnTo>
                  <a:cubicBezTo>
                    <a:pt x="1716751" y="1518304"/>
                    <a:pt x="1712371" y="1528877"/>
                    <a:pt x="1704576" y="1536673"/>
                  </a:cubicBezTo>
                  <a:cubicBezTo>
                    <a:pt x="1696780" y="1544469"/>
                    <a:pt x="1686206" y="1548849"/>
                    <a:pt x="1675181" y="1548849"/>
                  </a:cubicBezTo>
                  <a:lnTo>
                    <a:pt x="41570" y="1548849"/>
                  </a:lnTo>
                  <a:cubicBezTo>
                    <a:pt x="30545" y="1548849"/>
                    <a:pt x="19972" y="1544469"/>
                    <a:pt x="12176" y="1536673"/>
                  </a:cubicBezTo>
                  <a:cubicBezTo>
                    <a:pt x="4380" y="1528877"/>
                    <a:pt x="0" y="1518304"/>
                    <a:pt x="0" y="1507278"/>
                  </a:cubicBezTo>
                  <a:lnTo>
                    <a:pt x="0" y="41570"/>
                  </a:lnTo>
                  <a:cubicBezTo>
                    <a:pt x="0" y="30545"/>
                    <a:pt x="4380" y="19972"/>
                    <a:pt x="12176" y="12176"/>
                  </a:cubicBezTo>
                  <a:cubicBezTo>
                    <a:pt x="19972" y="4380"/>
                    <a:pt x="30545" y="0"/>
                    <a:pt x="41570" y="0"/>
                  </a:cubicBezTo>
                  <a:close/>
                </a:path>
              </a:pathLst>
            </a:custGeom>
            <a:solidFill>
              <a:srgbClr val="000000"/>
            </a:solidFill>
            <a:ln w="9525" cap="rnd">
              <a:solidFill>
                <a:srgbClr val="737373"/>
              </a:solidFill>
              <a:prstDash val="solid"/>
              <a:round/>
            </a:ln>
          </p:spPr>
          <p:txBody>
            <a:bodyPr/>
            <a:lstStyle/>
            <a:p>
              <a:endParaRPr lang="en-IN"/>
            </a:p>
          </p:txBody>
        </p:sp>
        <p:sp>
          <p:nvSpPr>
            <p:cNvPr id="4" name="TextBox 4"/>
            <p:cNvSpPr txBox="1"/>
            <p:nvPr/>
          </p:nvSpPr>
          <p:spPr>
            <a:xfrm>
              <a:off x="0" y="19050"/>
              <a:ext cx="1716751" cy="1529799"/>
            </a:xfrm>
            <a:prstGeom prst="rect">
              <a:avLst/>
            </a:prstGeom>
          </p:spPr>
          <p:txBody>
            <a:bodyPr lIns="50800" tIns="50800" rIns="50800" bIns="50800" rtlCol="0" anchor="ctr"/>
            <a:lstStyle/>
            <a:p>
              <a:pPr marL="0" lvl="0" indent="0" algn="ctr">
                <a:lnSpc>
                  <a:spcPts val="1400"/>
                </a:lnSpc>
              </a:pPr>
              <a:endParaRPr/>
            </a:p>
          </p:txBody>
        </p:sp>
      </p:grpSp>
      <p:grpSp>
        <p:nvGrpSpPr>
          <p:cNvPr id="5" name="Group 5"/>
          <p:cNvGrpSpPr/>
          <p:nvPr/>
        </p:nvGrpSpPr>
        <p:grpSpPr>
          <a:xfrm>
            <a:off x="4364543" y="3377515"/>
            <a:ext cx="6364894" cy="5880785"/>
            <a:chOff x="0" y="0"/>
            <a:chExt cx="1508891" cy="1394126"/>
          </a:xfrm>
        </p:grpSpPr>
        <p:sp>
          <p:nvSpPr>
            <p:cNvPr id="6" name="Freeform 6"/>
            <p:cNvSpPr/>
            <p:nvPr/>
          </p:nvSpPr>
          <p:spPr>
            <a:xfrm>
              <a:off x="0" y="0"/>
              <a:ext cx="1508891" cy="1394126"/>
            </a:xfrm>
            <a:custGeom>
              <a:avLst/>
              <a:gdLst/>
              <a:ahLst/>
              <a:cxnLst/>
              <a:rect l="l" t="t" r="r" b="b"/>
              <a:pathLst>
                <a:path w="1508891" h="1394126">
                  <a:moveTo>
                    <a:pt x="639418" y="88095"/>
                  </a:moveTo>
                  <a:lnTo>
                    <a:pt x="639418" y="246210"/>
                  </a:lnTo>
                  <a:cubicBezTo>
                    <a:pt x="639418" y="267140"/>
                    <a:pt x="631966" y="287386"/>
                    <a:pt x="618397" y="303322"/>
                  </a:cubicBezTo>
                  <a:lnTo>
                    <a:pt x="450704" y="500263"/>
                  </a:lnTo>
                  <a:cubicBezTo>
                    <a:pt x="433967" y="519922"/>
                    <a:pt x="409449" y="531250"/>
                    <a:pt x="383630" y="531251"/>
                  </a:cubicBezTo>
                  <a:lnTo>
                    <a:pt x="88095" y="531251"/>
                  </a:lnTo>
                  <a:cubicBezTo>
                    <a:pt x="39444" y="531251"/>
                    <a:pt x="4" y="570689"/>
                    <a:pt x="0" y="619340"/>
                  </a:cubicBezTo>
                  <a:lnTo>
                    <a:pt x="0" y="1306032"/>
                  </a:lnTo>
                  <a:cubicBezTo>
                    <a:pt x="1" y="1354685"/>
                    <a:pt x="39442" y="1394126"/>
                    <a:pt x="88095" y="1394126"/>
                  </a:cubicBezTo>
                  <a:lnTo>
                    <a:pt x="1420796" y="1394126"/>
                  </a:lnTo>
                  <a:cubicBezTo>
                    <a:pt x="1469449" y="1394126"/>
                    <a:pt x="1508890" y="1354685"/>
                    <a:pt x="1508891" y="1306032"/>
                  </a:cubicBezTo>
                  <a:lnTo>
                    <a:pt x="1508891" y="88095"/>
                  </a:lnTo>
                  <a:cubicBezTo>
                    <a:pt x="1508891" y="64731"/>
                    <a:pt x="1499610" y="42323"/>
                    <a:pt x="1483089" y="25802"/>
                  </a:cubicBezTo>
                  <a:cubicBezTo>
                    <a:pt x="1466568" y="9281"/>
                    <a:pt x="1444160" y="0"/>
                    <a:pt x="1420796" y="0"/>
                  </a:cubicBezTo>
                  <a:lnTo>
                    <a:pt x="727513" y="0"/>
                  </a:lnTo>
                  <a:cubicBezTo>
                    <a:pt x="678860" y="0"/>
                    <a:pt x="639418" y="39441"/>
                    <a:pt x="639418" y="88095"/>
                  </a:cubicBezTo>
                  <a:close/>
                </a:path>
              </a:pathLst>
            </a:custGeom>
            <a:blipFill>
              <a:blip r:embed="rId2"/>
              <a:stretch>
                <a:fillRect t="-4116" b="-4116"/>
              </a:stretch>
            </a:blipFill>
          </p:spPr>
          <p:txBody>
            <a:bodyPr/>
            <a:lstStyle/>
            <a:p>
              <a:endParaRPr lang="en-IN"/>
            </a:p>
          </p:txBody>
        </p:sp>
      </p:grpSp>
      <p:grpSp>
        <p:nvGrpSpPr>
          <p:cNvPr id="7" name="Group 7"/>
          <p:cNvGrpSpPr/>
          <p:nvPr/>
        </p:nvGrpSpPr>
        <p:grpSpPr>
          <a:xfrm>
            <a:off x="1552186" y="5624850"/>
            <a:ext cx="2355157" cy="3268404"/>
            <a:chOff x="0" y="0"/>
            <a:chExt cx="364875" cy="506361"/>
          </a:xfrm>
        </p:grpSpPr>
        <p:sp>
          <p:nvSpPr>
            <p:cNvPr id="8" name="Freeform 8"/>
            <p:cNvSpPr/>
            <p:nvPr/>
          </p:nvSpPr>
          <p:spPr>
            <a:xfrm>
              <a:off x="0" y="0"/>
              <a:ext cx="364875" cy="506361"/>
            </a:xfrm>
            <a:custGeom>
              <a:avLst/>
              <a:gdLst/>
              <a:ahLst/>
              <a:cxnLst/>
              <a:rect l="l" t="t" r="r" b="b"/>
              <a:pathLst>
                <a:path w="364875" h="506361">
                  <a:moveTo>
                    <a:pt x="147925" y="0"/>
                  </a:moveTo>
                  <a:lnTo>
                    <a:pt x="216951" y="0"/>
                  </a:lnTo>
                  <a:cubicBezTo>
                    <a:pt x="256183" y="0"/>
                    <a:pt x="293808" y="15585"/>
                    <a:pt x="321549" y="43326"/>
                  </a:cubicBezTo>
                  <a:cubicBezTo>
                    <a:pt x="349291" y="71068"/>
                    <a:pt x="364875" y="108693"/>
                    <a:pt x="364875" y="147925"/>
                  </a:cubicBezTo>
                  <a:lnTo>
                    <a:pt x="364875" y="358436"/>
                  </a:lnTo>
                  <a:cubicBezTo>
                    <a:pt x="364875" y="397669"/>
                    <a:pt x="349291" y="435294"/>
                    <a:pt x="321549" y="463035"/>
                  </a:cubicBezTo>
                  <a:cubicBezTo>
                    <a:pt x="293808" y="490776"/>
                    <a:pt x="256183" y="506361"/>
                    <a:pt x="216951" y="506361"/>
                  </a:cubicBezTo>
                  <a:lnTo>
                    <a:pt x="147925" y="506361"/>
                  </a:lnTo>
                  <a:cubicBezTo>
                    <a:pt x="108693" y="506361"/>
                    <a:pt x="71068" y="490776"/>
                    <a:pt x="43326" y="463035"/>
                  </a:cubicBezTo>
                  <a:cubicBezTo>
                    <a:pt x="15585" y="435294"/>
                    <a:pt x="0" y="397669"/>
                    <a:pt x="0" y="358436"/>
                  </a:cubicBezTo>
                  <a:lnTo>
                    <a:pt x="0" y="147925"/>
                  </a:lnTo>
                  <a:cubicBezTo>
                    <a:pt x="0" y="108693"/>
                    <a:pt x="15585" y="71068"/>
                    <a:pt x="43326" y="43326"/>
                  </a:cubicBezTo>
                  <a:cubicBezTo>
                    <a:pt x="71068" y="15585"/>
                    <a:pt x="108693" y="0"/>
                    <a:pt x="147925" y="0"/>
                  </a:cubicBezTo>
                  <a:close/>
                </a:path>
              </a:pathLst>
            </a:custGeom>
            <a:blipFill>
              <a:blip r:embed="rId3"/>
              <a:stretch>
                <a:fillRect l="-1780" r="-1780"/>
              </a:stretch>
            </a:blipFill>
          </p:spPr>
          <p:txBody>
            <a:bodyPr/>
            <a:lstStyle/>
            <a:p>
              <a:endParaRPr lang="en-IN"/>
            </a:p>
          </p:txBody>
        </p:sp>
      </p:grpSp>
      <p:sp>
        <p:nvSpPr>
          <p:cNvPr id="25" name="TextBox 25"/>
          <p:cNvSpPr txBox="1"/>
          <p:nvPr/>
        </p:nvSpPr>
        <p:spPr>
          <a:xfrm>
            <a:off x="1028700" y="1034984"/>
            <a:ext cx="2507869" cy="316230"/>
          </a:xfrm>
          <a:prstGeom prst="rect">
            <a:avLst/>
          </a:prstGeom>
        </p:spPr>
        <p:txBody>
          <a:bodyPr lIns="0" tIns="0" rIns="0" bIns="0" rtlCol="0" anchor="t">
            <a:spAutoFit/>
          </a:bodyPr>
          <a:lstStyle/>
          <a:p>
            <a:pPr marL="0" lvl="0" indent="0" algn="l">
              <a:lnSpc>
                <a:spcPts val="1200"/>
              </a:lnSpc>
            </a:pPr>
            <a:r>
              <a:rPr lang="en-US" sz="1200">
                <a:solidFill>
                  <a:srgbClr val="FFFFFF"/>
                </a:solidFill>
                <a:latin typeface="TT Autonomous"/>
                <a:ea typeface="TT Autonomous"/>
                <a:cs typeface="TT Autonomous"/>
                <a:sym typeface="TT Autonomous"/>
              </a:rPr>
              <a:t>DISTRIBUTED DEEP LEARNING</a:t>
            </a:r>
          </a:p>
        </p:txBody>
      </p:sp>
      <p:sp>
        <p:nvSpPr>
          <p:cNvPr id="12" name="Subtitle 11">
            <a:extLst>
              <a:ext uri="{FF2B5EF4-FFF2-40B4-BE49-F238E27FC236}">
                <a16:creationId xmlns:a16="http://schemas.microsoft.com/office/drawing/2014/main" id="{26C20A82-571C-CFE7-1BB7-0FA97424FAAB}"/>
              </a:ext>
            </a:extLst>
          </p:cNvPr>
          <p:cNvSpPr>
            <a:spLocks noGrp="1"/>
          </p:cNvSpPr>
          <p:nvPr>
            <p:ph type="subTitle" idx="1"/>
          </p:nvPr>
        </p:nvSpPr>
        <p:spPr>
          <a:xfrm>
            <a:off x="10885965" y="1624350"/>
            <a:ext cx="6871767" cy="8001000"/>
          </a:xfrm>
        </p:spPr>
        <p:txBody>
          <a:bodyPr>
            <a:normAutofit/>
          </a:bodyPr>
          <a:lstStyle/>
          <a:p>
            <a:pPr marL="457200" indent="-457200" algn="l">
              <a:buFont typeface="Arial" panose="020B0604020202020204" pitchFamily="34" charset="0"/>
              <a:buChar char="•"/>
            </a:pPr>
            <a:r>
              <a:rPr lang="en-US" dirty="0">
                <a:latin typeface="Franklin Gothic Book" panose="020B0503020102020204" pitchFamily="34" charset="0"/>
              </a:rPr>
              <a:t>ResNet-50 is a </a:t>
            </a:r>
            <a:r>
              <a:rPr lang="en-US" b="1" dirty="0">
                <a:latin typeface="Franklin Gothic Book" panose="020B0503020102020204" pitchFamily="34" charset="0"/>
              </a:rPr>
              <a:t>50-layer deep convolutional neural network</a:t>
            </a:r>
            <a:r>
              <a:rPr lang="en-US" dirty="0">
                <a:latin typeface="Franklin Gothic Book" panose="020B0503020102020204" pitchFamily="34" charset="0"/>
              </a:rPr>
              <a:t> introduced in 2015. </a:t>
            </a:r>
          </a:p>
          <a:p>
            <a:pPr marL="457200" indent="-457200" algn="l">
              <a:buFont typeface="Arial" panose="020B0604020202020204" pitchFamily="34" charset="0"/>
              <a:buChar char="•"/>
            </a:pPr>
            <a:r>
              <a:rPr lang="en-US" dirty="0">
                <a:latin typeface="Franklin Gothic Book" panose="020B0503020102020204" pitchFamily="34" charset="0"/>
              </a:rPr>
              <a:t>It uses </a:t>
            </a:r>
            <a:r>
              <a:rPr lang="en-US" b="1" dirty="0">
                <a:latin typeface="Franklin Gothic Book" panose="020B0503020102020204" pitchFamily="34" charset="0"/>
              </a:rPr>
              <a:t>skip (shortcut) connections</a:t>
            </a:r>
            <a:r>
              <a:rPr lang="en-US" dirty="0">
                <a:latin typeface="Franklin Gothic Book" panose="020B0503020102020204" pitchFamily="34" charset="0"/>
              </a:rPr>
              <a:t> to solve the </a:t>
            </a:r>
            <a:r>
              <a:rPr lang="en-US" b="1" dirty="0">
                <a:latin typeface="Franklin Gothic Book" panose="020B0503020102020204" pitchFamily="34" charset="0"/>
              </a:rPr>
              <a:t>vanishing gradient problem</a:t>
            </a:r>
            <a:r>
              <a:rPr lang="en-US" dirty="0">
                <a:latin typeface="Franklin Gothic Book" panose="020B0503020102020204" pitchFamily="34" charset="0"/>
              </a:rPr>
              <a:t>. </a:t>
            </a:r>
          </a:p>
          <a:p>
            <a:pPr marL="457200" indent="-457200" algn="l">
              <a:buFont typeface="Arial" panose="020B0604020202020204" pitchFamily="34" charset="0"/>
              <a:buChar char="•"/>
            </a:pPr>
            <a:r>
              <a:rPr lang="en-US" dirty="0">
                <a:latin typeface="Franklin Gothic Book" panose="020B0503020102020204" pitchFamily="34" charset="0"/>
              </a:rPr>
              <a:t>Built using </a:t>
            </a:r>
            <a:r>
              <a:rPr lang="en-US" b="1" dirty="0">
                <a:latin typeface="Franklin Gothic Book" panose="020B0503020102020204" pitchFamily="34" charset="0"/>
              </a:rPr>
              <a:t>bottleneck blocks (1×1, 3×3, 1×1 convolutions)</a:t>
            </a:r>
            <a:r>
              <a:rPr lang="en-US" dirty="0">
                <a:latin typeface="Franklin Gothic Book" panose="020B0503020102020204" pitchFamily="34" charset="0"/>
              </a:rPr>
              <a:t> for efficiency. </a:t>
            </a:r>
          </a:p>
          <a:p>
            <a:pPr marL="457200" indent="-457200" algn="l">
              <a:buFont typeface="Arial" panose="020B0604020202020204" pitchFamily="34" charset="0"/>
              <a:buChar char="•"/>
            </a:pPr>
            <a:r>
              <a:rPr lang="en-US" dirty="0">
                <a:latin typeface="Franklin Gothic Book" panose="020B0503020102020204" pitchFamily="34" charset="0"/>
              </a:rPr>
              <a:t>Achieves </a:t>
            </a:r>
            <a:r>
              <a:rPr lang="en-US" b="1" dirty="0">
                <a:latin typeface="Franklin Gothic Book" panose="020B0503020102020204" pitchFamily="34" charset="0"/>
              </a:rPr>
              <a:t>high accuracy</a:t>
            </a:r>
            <a:r>
              <a:rPr lang="en-US" dirty="0">
                <a:latin typeface="Franklin Gothic Book" panose="020B0503020102020204" pitchFamily="34" charset="0"/>
              </a:rPr>
              <a:t> in image classification tasks. </a:t>
            </a:r>
          </a:p>
          <a:p>
            <a:pPr marL="457200" indent="-457200" algn="l">
              <a:buFont typeface="Arial" panose="020B0604020202020204" pitchFamily="34" charset="0"/>
              <a:buChar char="•"/>
            </a:pPr>
            <a:r>
              <a:rPr lang="en-US" dirty="0">
                <a:latin typeface="Franklin Gothic Book" panose="020B0503020102020204" pitchFamily="34" charset="0"/>
              </a:rPr>
              <a:t>Widely used with frameworks like </a:t>
            </a:r>
            <a:r>
              <a:rPr lang="en-US" b="1" dirty="0">
                <a:latin typeface="Franklin Gothic Book" panose="020B0503020102020204" pitchFamily="34" charset="0"/>
              </a:rPr>
              <a:t>TensorFlow</a:t>
            </a:r>
            <a:r>
              <a:rPr lang="en-US" dirty="0">
                <a:latin typeface="Franklin Gothic Book" panose="020B0503020102020204" pitchFamily="34" charset="0"/>
              </a:rPr>
              <a:t> and </a:t>
            </a:r>
            <a:r>
              <a:rPr lang="en-US" b="1" dirty="0" err="1">
                <a:latin typeface="Franklin Gothic Book" panose="020B0503020102020204" pitchFamily="34" charset="0"/>
              </a:rPr>
              <a:t>PyTorch</a:t>
            </a:r>
            <a:r>
              <a:rPr lang="en-US" dirty="0">
                <a:latin typeface="Franklin Gothic Book" panose="020B0503020102020204" pitchFamily="34" charset="0"/>
              </a:rPr>
              <a:t>. </a:t>
            </a:r>
          </a:p>
          <a:p>
            <a:pPr algn="l"/>
            <a:endParaRPr lang="en-IN" b="1" dirty="0">
              <a:latin typeface="Franklin Gothic Book" panose="020B0503020102020204" pitchFamily="34" charset="0"/>
            </a:endParaRPr>
          </a:p>
        </p:txBody>
      </p:sp>
      <p:sp>
        <p:nvSpPr>
          <p:cNvPr id="14" name="TextBox 13">
            <a:extLst>
              <a:ext uri="{FF2B5EF4-FFF2-40B4-BE49-F238E27FC236}">
                <a16:creationId xmlns:a16="http://schemas.microsoft.com/office/drawing/2014/main" id="{A0A75EAF-4B25-34AD-13FF-4262F8C8FCF6}"/>
              </a:ext>
            </a:extLst>
          </p:cNvPr>
          <p:cNvSpPr txBox="1"/>
          <p:nvPr/>
        </p:nvSpPr>
        <p:spPr>
          <a:xfrm>
            <a:off x="1028700" y="1931455"/>
            <a:ext cx="9144000" cy="480966"/>
          </a:xfrm>
          <a:prstGeom prst="rect">
            <a:avLst/>
          </a:prstGeom>
          <a:noFill/>
        </p:spPr>
        <p:txBody>
          <a:bodyPr wrap="square">
            <a:spAutoFit/>
          </a:bodyPr>
          <a:lstStyle/>
          <a:p>
            <a:pPr>
              <a:lnSpc>
                <a:spcPts val="2819"/>
              </a:lnSpc>
            </a:pPr>
            <a:r>
              <a:rPr lang="en-US" sz="4000" b="1" dirty="0">
                <a:solidFill>
                  <a:schemeClr val="bg1"/>
                </a:solidFill>
                <a:latin typeface="Microsoft YaHei UI Light" panose="020B0502040204020203" pitchFamily="34" charset="-122"/>
                <a:ea typeface="Microsoft YaHei UI Light" panose="020B0502040204020203" pitchFamily="34" charset="-122"/>
              </a:rPr>
              <a:t>ResNet-50 (Residual Neural Network)</a:t>
            </a:r>
            <a:endParaRPr lang="en-US" sz="4000" b="1" dirty="0">
              <a:solidFill>
                <a:schemeClr val="bg1"/>
              </a:solidFill>
              <a:latin typeface="Microsoft YaHei UI Light" panose="020B0502040204020203" pitchFamily="34" charset="-122"/>
              <a:ea typeface="Microsoft YaHei UI Light" panose="020B0502040204020203" pitchFamily="34" charset="-122"/>
              <a:cs typeface="TT Autonomous Bold"/>
              <a:sym typeface="TT Autonomous Bold"/>
            </a:endParaRPr>
          </a:p>
        </p:txBody>
      </p:sp>
    </p:spTree>
  </p:cSld>
  <p:clrMapOvr>
    <a:masterClrMapping/>
  </p:clrMapOvr>
  <p:transition spd="slow">
    <p:comb/>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1085964" y="2181154"/>
            <a:ext cx="6173336" cy="7077146"/>
            <a:chOff x="0" y="0"/>
            <a:chExt cx="1625899" cy="1863940"/>
          </a:xfrm>
        </p:grpSpPr>
        <p:sp>
          <p:nvSpPr>
            <p:cNvPr id="3" name="Freeform 3"/>
            <p:cNvSpPr/>
            <p:nvPr/>
          </p:nvSpPr>
          <p:spPr>
            <a:xfrm>
              <a:off x="0" y="0"/>
              <a:ext cx="1625899" cy="1863940"/>
            </a:xfrm>
            <a:custGeom>
              <a:avLst/>
              <a:gdLst/>
              <a:ahLst/>
              <a:cxnLst/>
              <a:rect l="l" t="t" r="r" b="b"/>
              <a:pathLst>
                <a:path w="1625899" h="1863940">
                  <a:moveTo>
                    <a:pt x="43893" y="0"/>
                  </a:moveTo>
                  <a:lnTo>
                    <a:pt x="1582006" y="0"/>
                  </a:lnTo>
                  <a:cubicBezTo>
                    <a:pt x="1606248" y="0"/>
                    <a:pt x="1625899" y="19652"/>
                    <a:pt x="1625899" y="43893"/>
                  </a:cubicBezTo>
                  <a:lnTo>
                    <a:pt x="1625899" y="1820047"/>
                  </a:lnTo>
                  <a:cubicBezTo>
                    <a:pt x="1625899" y="1831688"/>
                    <a:pt x="1621275" y="1842852"/>
                    <a:pt x="1613043" y="1851084"/>
                  </a:cubicBezTo>
                  <a:cubicBezTo>
                    <a:pt x="1604812" y="1859315"/>
                    <a:pt x="1593647" y="1863940"/>
                    <a:pt x="1582006" y="1863940"/>
                  </a:cubicBezTo>
                  <a:lnTo>
                    <a:pt x="43893" y="1863940"/>
                  </a:lnTo>
                  <a:cubicBezTo>
                    <a:pt x="19652" y="1863940"/>
                    <a:pt x="0" y="1844288"/>
                    <a:pt x="0" y="1820047"/>
                  </a:cubicBezTo>
                  <a:lnTo>
                    <a:pt x="0" y="43893"/>
                  </a:lnTo>
                  <a:cubicBezTo>
                    <a:pt x="0" y="19652"/>
                    <a:pt x="19652" y="0"/>
                    <a:pt x="43893" y="0"/>
                  </a:cubicBezTo>
                  <a:close/>
                </a:path>
              </a:pathLst>
            </a:custGeom>
            <a:solidFill>
              <a:srgbClr val="000000"/>
            </a:solidFill>
            <a:ln w="9525" cap="rnd">
              <a:solidFill>
                <a:srgbClr val="737373"/>
              </a:solidFill>
              <a:prstDash val="solid"/>
              <a:round/>
            </a:ln>
          </p:spPr>
          <p:txBody>
            <a:bodyPr/>
            <a:lstStyle/>
            <a:p>
              <a:endParaRPr lang="en-IN" dirty="0"/>
            </a:p>
          </p:txBody>
        </p:sp>
        <p:sp>
          <p:nvSpPr>
            <p:cNvPr id="4" name="TextBox 4"/>
            <p:cNvSpPr txBox="1"/>
            <p:nvPr/>
          </p:nvSpPr>
          <p:spPr>
            <a:xfrm>
              <a:off x="0" y="19050"/>
              <a:ext cx="1625899" cy="1844890"/>
            </a:xfrm>
            <a:prstGeom prst="rect">
              <a:avLst/>
            </a:prstGeom>
          </p:spPr>
          <p:txBody>
            <a:bodyPr lIns="50800" tIns="50800" rIns="50800" bIns="50800" rtlCol="0" anchor="ctr"/>
            <a:lstStyle/>
            <a:p>
              <a:pPr marL="0" lvl="0" indent="0" algn="ctr">
                <a:lnSpc>
                  <a:spcPts val="1400"/>
                </a:lnSpc>
              </a:pPr>
              <a:endParaRPr/>
            </a:p>
          </p:txBody>
        </p:sp>
      </p:grpSp>
      <p:grpSp>
        <p:nvGrpSpPr>
          <p:cNvPr id="5" name="Group 5"/>
          <p:cNvGrpSpPr/>
          <p:nvPr/>
        </p:nvGrpSpPr>
        <p:grpSpPr>
          <a:xfrm>
            <a:off x="4475061" y="2181154"/>
            <a:ext cx="8602568" cy="7077146"/>
            <a:chOff x="0" y="0"/>
            <a:chExt cx="1381939" cy="1136891"/>
          </a:xfrm>
        </p:grpSpPr>
        <p:sp>
          <p:nvSpPr>
            <p:cNvPr id="6" name="Freeform 6"/>
            <p:cNvSpPr/>
            <p:nvPr/>
          </p:nvSpPr>
          <p:spPr>
            <a:xfrm>
              <a:off x="0" y="0"/>
              <a:ext cx="1381939" cy="1136891"/>
            </a:xfrm>
            <a:custGeom>
              <a:avLst/>
              <a:gdLst/>
              <a:ahLst/>
              <a:cxnLst/>
              <a:rect l="l" t="t" r="r" b="b"/>
              <a:pathLst>
                <a:path w="1381939" h="1136891">
                  <a:moveTo>
                    <a:pt x="0" y="124380"/>
                  </a:moveTo>
                  <a:lnTo>
                    <a:pt x="0" y="740734"/>
                  </a:lnTo>
                  <a:cubicBezTo>
                    <a:pt x="0" y="809427"/>
                    <a:pt x="55687" y="865114"/>
                    <a:pt x="124380" y="865114"/>
                  </a:cubicBezTo>
                  <a:lnTo>
                    <a:pt x="267087" y="865114"/>
                  </a:lnTo>
                  <a:cubicBezTo>
                    <a:pt x="303063" y="865114"/>
                    <a:pt x="337276" y="880690"/>
                    <a:pt x="360898" y="907824"/>
                  </a:cubicBezTo>
                  <a:lnTo>
                    <a:pt x="523133" y="1094180"/>
                  </a:lnTo>
                  <a:cubicBezTo>
                    <a:pt x="546755" y="1121314"/>
                    <a:pt x="580969" y="1136891"/>
                    <a:pt x="616944" y="1136891"/>
                  </a:cubicBezTo>
                  <a:lnTo>
                    <a:pt x="1088079" y="1136891"/>
                  </a:lnTo>
                  <a:cubicBezTo>
                    <a:pt x="1123987" y="1136891"/>
                    <a:pt x="1158143" y="1121372"/>
                    <a:pt x="1181763" y="1094326"/>
                  </a:cubicBezTo>
                  <a:lnTo>
                    <a:pt x="1340954" y="912044"/>
                  </a:lnTo>
                  <a:cubicBezTo>
                    <a:pt x="1367377" y="881787"/>
                    <a:pt x="1381939" y="842978"/>
                    <a:pt x="1381939" y="802806"/>
                  </a:cubicBezTo>
                  <a:lnTo>
                    <a:pt x="1381939" y="124380"/>
                  </a:lnTo>
                  <a:cubicBezTo>
                    <a:pt x="1381939" y="91391"/>
                    <a:pt x="1368834" y="59754"/>
                    <a:pt x="1345507" y="36428"/>
                  </a:cubicBezTo>
                  <a:cubicBezTo>
                    <a:pt x="1322180" y="13102"/>
                    <a:pt x="1290542" y="-1"/>
                    <a:pt x="1257554" y="0"/>
                  </a:cubicBezTo>
                  <a:lnTo>
                    <a:pt x="124380" y="0"/>
                  </a:lnTo>
                  <a:cubicBezTo>
                    <a:pt x="55687" y="0"/>
                    <a:pt x="0" y="55687"/>
                    <a:pt x="0" y="124380"/>
                  </a:cubicBezTo>
                  <a:close/>
                </a:path>
              </a:pathLst>
            </a:custGeom>
            <a:blipFill>
              <a:blip r:embed="rId2"/>
              <a:stretch>
                <a:fillRect l="-861" r="-861"/>
              </a:stretch>
            </a:blipFill>
          </p:spPr>
          <p:txBody>
            <a:bodyPr/>
            <a:lstStyle/>
            <a:p>
              <a:endParaRPr lang="en-IN"/>
            </a:p>
          </p:txBody>
        </p:sp>
      </p:grpSp>
      <p:grpSp>
        <p:nvGrpSpPr>
          <p:cNvPr id="7" name="Group 7"/>
          <p:cNvGrpSpPr/>
          <p:nvPr/>
        </p:nvGrpSpPr>
        <p:grpSpPr>
          <a:xfrm>
            <a:off x="13608001" y="6620780"/>
            <a:ext cx="3063447" cy="2048026"/>
            <a:chOff x="0" y="0"/>
            <a:chExt cx="474608" cy="317293"/>
          </a:xfrm>
        </p:grpSpPr>
        <p:sp>
          <p:nvSpPr>
            <p:cNvPr id="8" name="Freeform 8"/>
            <p:cNvSpPr/>
            <p:nvPr/>
          </p:nvSpPr>
          <p:spPr>
            <a:xfrm>
              <a:off x="0" y="0"/>
              <a:ext cx="474608" cy="317293"/>
            </a:xfrm>
            <a:custGeom>
              <a:avLst/>
              <a:gdLst/>
              <a:ahLst/>
              <a:cxnLst/>
              <a:rect l="l" t="t" r="r" b="b"/>
              <a:pathLst>
                <a:path w="474608" h="317293">
                  <a:moveTo>
                    <a:pt x="113724" y="0"/>
                  </a:moveTo>
                  <a:lnTo>
                    <a:pt x="360884" y="0"/>
                  </a:lnTo>
                  <a:cubicBezTo>
                    <a:pt x="423692" y="0"/>
                    <a:pt x="474608" y="50916"/>
                    <a:pt x="474608" y="113724"/>
                  </a:cubicBezTo>
                  <a:lnTo>
                    <a:pt x="474608" y="203569"/>
                  </a:lnTo>
                  <a:cubicBezTo>
                    <a:pt x="474608" y="233731"/>
                    <a:pt x="462627" y="262657"/>
                    <a:pt x="441299" y="283984"/>
                  </a:cubicBezTo>
                  <a:cubicBezTo>
                    <a:pt x="419972" y="305311"/>
                    <a:pt x="391046" y="317293"/>
                    <a:pt x="360884" y="317293"/>
                  </a:cubicBezTo>
                  <a:lnTo>
                    <a:pt x="113724" y="317293"/>
                  </a:lnTo>
                  <a:cubicBezTo>
                    <a:pt x="83562" y="317293"/>
                    <a:pt x="54636" y="305311"/>
                    <a:pt x="33309" y="283984"/>
                  </a:cubicBezTo>
                  <a:cubicBezTo>
                    <a:pt x="11982" y="262657"/>
                    <a:pt x="0" y="233731"/>
                    <a:pt x="0" y="203569"/>
                  </a:cubicBezTo>
                  <a:lnTo>
                    <a:pt x="0" y="113724"/>
                  </a:lnTo>
                  <a:cubicBezTo>
                    <a:pt x="0" y="83562"/>
                    <a:pt x="11982" y="54636"/>
                    <a:pt x="33309" y="33309"/>
                  </a:cubicBezTo>
                  <a:cubicBezTo>
                    <a:pt x="54636" y="11982"/>
                    <a:pt x="83562" y="0"/>
                    <a:pt x="113724" y="0"/>
                  </a:cubicBezTo>
                  <a:close/>
                </a:path>
              </a:pathLst>
            </a:custGeom>
            <a:blipFill>
              <a:blip r:embed="rId3"/>
              <a:stretch>
                <a:fillRect t="-389" b="-389"/>
              </a:stretch>
            </a:blipFill>
          </p:spPr>
          <p:txBody>
            <a:bodyPr/>
            <a:lstStyle/>
            <a:p>
              <a:endParaRPr lang="en-IN"/>
            </a:p>
          </p:txBody>
        </p:sp>
      </p:grpSp>
      <p:grpSp>
        <p:nvGrpSpPr>
          <p:cNvPr id="9" name="Group 9"/>
          <p:cNvGrpSpPr/>
          <p:nvPr/>
        </p:nvGrpSpPr>
        <p:grpSpPr>
          <a:xfrm>
            <a:off x="1028700" y="2181154"/>
            <a:ext cx="2992075" cy="5340921"/>
            <a:chOff x="0" y="0"/>
            <a:chExt cx="463551" cy="827448"/>
          </a:xfrm>
        </p:grpSpPr>
        <p:sp>
          <p:nvSpPr>
            <p:cNvPr id="10" name="Freeform 10"/>
            <p:cNvSpPr/>
            <p:nvPr/>
          </p:nvSpPr>
          <p:spPr>
            <a:xfrm>
              <a:off x="0" y="0"/>
              <a:ext cx="463551" cy="827449"/>
            </a:xfrm>
            <a:custGeom>
              <a:avLst/>
              <a:gdLst/>
              <a:ahLst/>
              <a:cxnLst/>
              <a:rect l="l" t="t" r="r" b="b"/>
              <a:pathLst>
                <a:path w="463551" h="827449">
                  <a:moveTo>
                    <a:pt x="116436" y="0"/>
                  </a:moveTo>
                  <a:lnTo>
                    <a:pt x="347114" y="0"/>
                  </a:lnTo>
                  <a:cubicBezTo>
                    <a:pt x="411420" y="0"/>
                    <a:pt x="463551" y="52130"/>
                    <a:pt x="463551" y="116436"/>
                  </a:cubicBezTo>
                  <a:lnTo>
                    <a:pt x="463551" y="711012"/>
                  </a:lnTo>
                  <a:cubicBezTo>
                    <a:pt x="463551" y="775318"/>
                    <a:pt x="411420" y="827449"/>
                    <a:pt x="347114" y="827449"/>
                  </a:cubicBezTo>
                  <a:lnTo>
                    <a:pt x="116436" y="827449"/>
                  </a:lnTo>
                  <a:cubicBezTo>
                    <a:pt x="52130" y="827449"/>
                    <a:pt x="0" y="775318"/>
                    <a:pt x="0" y="711012"/>
                  </a:cubicBezTo>
                  <a:lnTo>
                    <a:pt x="0" y="116436"/>
                  </a:lnTo>
                  <a:cubicBezTo>
                    <a:pt x="0" y="52130"/>
                    <a:pt x="52130" y="0"/>
                    <a:pt x="116436" y="0"/>
                  </a:cubicBezTo>
                  <a:close/>
                </a:path>
              </a:pathLst>
            </a:custGeom>
            <a:blipFill>
              <a:blip r:embed="rId4"/>
              <a:stretch>
                <a:fillRect l="-873" r="-873"/>
              </a:stretch>
            </a:blipFill>
          </p:spPr>
          <p:txBody>
            <a:bodyPr/>
            <a:lstStyle/>
            <a:p>
              <a:endParaRPr lang="en-IN"/>
            </a:p>
          </p:txBody>
        </p:sp>
      </p:grpSp>
      <p:sp>
        <p:nvSpPr>
          <p:cNvPr id="11" name="Freeform 11"/>
          <p:cNvSpPr/>
          <p:nvPr/>
        </p:nvSpPr>
        <p:spPr>
          <a:xfrm>
            <a:off x="12758583" y="8668806"/>
            <a:ext cx="319046" cy="319046"/>
          </a:xfrm>
          <a:custGeom>
            <a:avLst/>
            <a:gdLst/>
            <a:ahLst/>
            <a:cxnLst/>
            <a:rect l="l" t="t" r="r" b="b"/>
            <a:pathLst>
              <a:path w="319046" h="319046">
                <a:moveTo>
                  <a:pt x="0" y="0"/>
                </a:moveTo>
                <a:lnTo>
                  <a:pt x="319046" y="0"/>
                </a:lnTo>
                <a:lnTo>
                  <a:pt x="319046" y="319046"/>
                </a:lnTo>
                <a:lnTo>
                  <a:pt x="0" y="31904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2" name="TextBox 12"/>
          <p:cNvSpPr txBox="1"/>
          <p:nvPr/>
        </p:nvSpPr>
        <p:spPr>
          <a:xfrm>
            <a:off x="625817" y="8088999"/>
            <a:ext cx="6576220" cy="407804"/>
          </a:xfrm>
          <a:prstGeom prst="rect">
            <a:avLst/>
          </a:prstGeom>
        </p:spPr>
        <p:txBody>
          <a:bodyPr wrap="square" lIns="0" tIns="0" rIns="0" bIns="0" rtlCol="0" anchor="t">
            <a:spAutoFit/>
          </a:bodyPr>
          <a:lstStyle/>
          <a:p>
            <a:pPr marL="0" lvl="0" indent="0" algn="l">
              <a:lnSpc>
                <a:spcPts val="2819"/>
              </a:lnSpc>
            </a:pPr>
            <a:r>
              <a:rPr lang="en-US" sz="3600" b="1" dirty="0">
                <a:solidFill>
                  <a:srgbClr val="FFFFFF"/>
                </a:solidFill>
                <a:latin typeface="TT Autonomous Bold"/>
                <a:ea typeface="TT Autonomous Bold"/>
                <a:cs typeface="TT Autonomous Bold"/>
                <a:sym typeface="TT Autonomous Bold"/>
              </a:rPr>
              <a:t>INFRASTRUCTURE</a:t>
            </a:r>
          </a:p>
        </p:txBody>
      </p:sp>
      <p:sp>
        <p:nvSpPr>
          <p:cNvPr id="13" name="TextBox 13"/>
          <p:cNvSpPr txBox="1"/>
          <p:nvPr/>
        </p:nvSpPr>
        <p:spPr>
          <a:xfrm>
            <a:off x="1028700" y="8668806"/>
            <a:ext cx="8997135" cy="407804"/>
          </a:xfrm>
          <a:prstGeom prst="rect">
            <a:avLst/>
          </a:prstGeom>
        </p:spPr>
        <p:txBody>
          <a:bodyPr wrap="square" lIns="0" tIns="0" rIns="0" bIns="0" rtlCol="0" anchor="t">
            <a:spAutoFit/>
          </a:bodyPr>
          <a:lstStyle/>
          <a:p>
            <a:pPr marL="0" lvl="0" indent="0" algn="l">
              <a:lnSpc>
                <a:spcPts val="2819"/>
              </a:lnSpc>
            </a:pPr>
            <a:r>
              <a:rPr lang="en-US" sz="3600" dirty="0">
                <a:solidFill>
                  <a:srgbClr val="FFFFFF"/>
                </a:solidFill>
                <a:latin typeface="TT Autonomous"/>
                <a:ea typeface="TT Autonomous"/>
                <a:cs typeface="TT Autonomous"/>
                <a:sym typeface="TT Autonomous"/>
              </a:rPr>
              <a:t>CHALLENGES</a:t>
            </a:r>
          </a:p>
        </p:txBody>
      </p:sp>
      <p:sp>
        <p:nvSpPr>
          <p:cNvPr id="14" name="TextBox 14"/>
          <p:cNvSpPr txBox="1"/>
          <p:nvPr/>
        </p:nvSpPr>
        <p:spPr>
          <a:xfrm>
            <a:off x="13608001" y="2781711"/>
            <a:ext cx="3063447" cy="2358338"/>
          </a:xfrm>
          <a:prstGeom prst="rect">
            <a:avLst/>
          </a:prstGeom>
        </p:spPr>
        <p:txBody>
          <a:bodyPr wrap="square" lIns="0" tIns="0" rIns="0" bIns="0" rtlCol="0" anchor="t">
            <a:spAutoFit/>
          </a:bodyPr>
          <a:lstStyle/>
          <a:p>
            <a:pPr marL="0" lvl="0" indent="0" algn="l">
              <a:lnSpc>
                <a:spcPts val="1439"/>
              </a:lnSpc>
            </a:pPr>
            <a:r>
              <a:rPr lang="en-US" b="1" spc="-12" dirty="0">
                <a:solidFill>
                  <a:srgbClr val="FFFFFF"/>
                </a:solidFill>
                <a:latin typeface="TT Autonomous" panose="020B0604020202020204" charset="0"/>
                <a:ea typeface="TT Hoves Bold"/>
                <a:cs typeface="TT Hoves Bold"/>
                <a:sym typeface="TT Hoves Bold"/>
              </a:rPr>
              <a:t>Thread-per-client collapse</a:t>
            </a:r>
          </a:p>
          <a:p>
            <a:pPr marL="0" lvl="0" indent="0" algn="l">
              <a:lnSpc>
                <a:spcPts val="1439"/>
              </a:lnSpc>
            </a:pPr>
            <a:endParaRPr lang="en-US" b="1" spc="-12" dirty="0">
              <a:solidFill>
                <a:srgbClr val="FFFFFF"/>
              </a:solidFill>
              <a:latin typeface="TT Autonomous" panose="020B0604020202020204" charset="0"/>
              <a:ea typeface="TT Hoves Bold"/>
              <a:cs typeface="TT Hoves Bold"/>
              <a:sym typeface="TT Hoves Bold"/>
            </a:endParaRPr>
          </a:p>
          <a:p>
            <a:pPr marL="0" lvl="0" indent="0" algn="l">
              <a:lnSpc>
                <a:spcPts val="1439"/>
              </a:lnSpc>
            </a:pPr>
            <a:endParaRPr lang="en-US" b="1" spc="-12" dirty="0">
              <a:solidFill>
                <a:srgbClr val="FFFFFF"/>
              </a:solidFill>
              <a:latin typeface="TT Autonomous" panose="020B0604020202020204" charset="0"/>
              <a:ea typeface="TT Hoves Bold"/>
              <a:cs typeface="TT Hoves Bold"/>
              <a:sym typeface="TT Hoves Bold"/>
            </a:endParaRPr>
          </a:p>
          <a:p>
            <a:pPr marL="0" lvl="0" indent="0" algn="l">
              <a:lnSpc>
                <a:spcPts val="1439"/>
              </a:lnSpc>
            </a:pPr>
            <a:endParaRPr lang="en-US" b="1" spc="-12" dirty="0">
              <a:solidFill>
                <a:srgbClr val="FFFFFF"/>
              </a:solidFill>
              <a:latin typeface="TT Autonomous" panose="020B0604020202020204" charset="0"/>
              <a:ea typeface="TT Hoves Bold"/>
              <a:cs typeface="TT Hoves Bold"/>
              <a:sym typeface="TT Hoves Bold"/>
            </a:endParaRPr>
          </a:p>
          <a:p>
            <a:pPr marL="0" lvl="0" indent="0" algn="l">
              <a:lnSpc>
                <a:spcPts val="1439"/>
              </a:lnSpc>
            </a:pPr>
            <a:endParaRPr lang="en-US" b="1" spc="-12" dirty="0">
              <a:solidFill>
                <a:srgbClr val="FFFFFF"/>
              </a:solidFill>
              <a:latin typeface="TT Autonomous" panose="020B0604020202020204" charset="0"/>
              <a:ea typeface="TT Hoves Bold"/>
              <a:cs typeface="TT Hoves Bold"/>
              <a:sym typeface="TT Hoves Bold"/>
            </a:endParaRPr>
          </a:p>
          <a:p>
            <a:pPr marL="0" lvl="0" indent="0" algn="l">
              <a:lnSpc>
                <a:spcPts val="1439"/>
              </a:lnSpc>
            </a:pPr>
            <a:r>
              <a:rPr lang="en-US" b="1" spc="-12" dirty="0">
                <a:solidFill>
                  <a:srgbClr val="FFFFFF"/>
                </a:solidFill>
                <a:latin typeface="TT Autonomous" panose="020B0604020202020204" charset="0"/>
                <a:ea typeface="TT Hoves Bold"/>
                <a:cs typeface="TT Hoves Bold"/>
                <a:sym typeface="TT Hoves Bold"/>
              </a:rPr>
              <a:t>GPU Contention</a:t>
            </a:r>
          </a:p>
          <a:p>
            <a:pPr marL="0" lvl="0" indent="0" algn="l">
              <a:lnSpc>
                <a:spcPts val="1439"/>
              </a:lnSpc>
            </a:pPr>
            <a:endParaRPr lang="en-US" b="1" spc="-12" dirty="0">
              <a:solidFill>
                <a:srgbClr val="FFFFFF"/>
              </a:solidFill>
              <a:latin typeface="TT Autonomous" panose="020B0604020202020204" charset="0"/>
              <a:ea typeface="TT Hoves Bold"/>
              <a:cs typeface="TT Hoves Bold"/>
              <a:sym typeface="TT Hoves Bold"/>
            </a:endParaRPr>
          </a:p>
          <a:p>
            <a:pPr marL="0" lvl="0" indent="0" algn="l">
              <a:lnSpc>
                <a:spcPts val="1439"/>
              </a:lnSpc>
            </a:pPr>
            <a:endParaRPr lang="en-US" b="1" spc="-12" dirty="0">
              <a:solidFill>
                <a:srgbClr val="FFFFFF"/>
              </a:solidFill>
              <a:latin typeface="TT Autonomous" panose="020B0604020202020204" charset="0"/>
              <a:ea typeface="TT Hoves Bold"/>
              <a:cs typeface="TT Hoves Bold"/>
              <a:sym typeface="TT Hoves Bold"/>
            </a:endParaRPr>
          </a:p>
          <a:p>
            <a:pPr marL="0" lvl="0" indent="0" algn="l">
              <a:lnSpc>
                <a:spcPts val="1439"/>
              </a:lnSpc>
            </a:pPr>
            <a:endParaRPr lang="en-US" b="1" spc="-12" dirty="0">
              <a:solidFill>
                <a:srgbClr val="FFFFFF"/>
              </a:solidFill>
              <a:latin typeface="TT Autonomous" panose="020B0604020202020204" charset="0"/>
              <a:ea typeface="TT Hoves Bold"/>
              <a:cs typeface="TT Hoves Bold"/>
              <a:sym typeface="TT Hoves Bold"/>
            </a:endParaRPr>
          </a:p>
          <a:p>
            <a:pPr marL="0" lvl="0" indent="0" algn="l">
              <a:lnSpc>
                <a:spcPts val="1439"/>
              </a:lnSpc>
            </a:pPr>
            <a:endParaRPr lang="en-US" b="1" spc="-12" dirty="0">
              <a:solidFill>
                <a:srgbClr val="FFFFFF"/>
              </a:solidFill>
              <a:latin typeface="TT Autonomous" panose="020B0604020202020204" charset="0"/>
              <a:ea typeface="TT Hoves Bold"/>
              <a:cs typeface="TT Hoves Bold"/>
              <a:sym typeface="TT Hoves Bold"/>
            </a:endParaRPr>
          </a:p>
          <a:p>
            <a:pPr marL="0" lvl="0" indent="0" algn="l">
              <a:lnSpc>
                <a:spcPts val="1439"/>
              </a:lnSpc>
            </a:pPr>
            <a:r>
              <a:rPr lang="en-US" b="1" spc="-12" dirty="0">
                <a:solidFill>
                  <a:srgbClr val="FFFFFF"/>
                </a:solidFill>
                <a:latin typeface="TT Autonomous" panose="020B0604020202020204" charset="0"/>
                <a:ea typeface="TT Hoves Bold"/>
                <a:cs typeface="TT Hoves Bold"/>
                <a:sym typeface="TT Hoves Bold"/>
              </a:rPr>
              <a:t>GPU </a:t>
            </a:r>
            <a:r>
              <a:rPr lang="en-IN" b="1" spc="-12" dirty="0">
                <a:solidFill>
                  <a:srgbClr val="FFFFFF"/>
                </a:solidFill>
                <a:latin typeface="TT Autonomous" panose="020B0604020202020204" charset="0"/>
                <a:ea typeface="TT Hoves Bold"/>
                <a:cs typeface="TT Hoves Bold"/>
                <a:sym typeface="TT Hoves Bold"/>
              </a:rPr>
              <a:t>Underutilization</a:t>
            </a:r>
            <a:endParaRPr lang="en-US" b="1" spc="-12" dirty="0">
              <a:solidFill>
                <a:srgbClr val="FFFFFF"/>
              </a:solidFill>
              <a:latin typeface="TT Autonomous" panose="020B0604020202020204" charset="0"/>
              <a:ea typeface="TT Hoves Bold"/>
              <a:cs typeface="TT Hoves Bold"/>
              <a:sym typeface="TT Hoves Bold"/>
            </a:endParaRPr>
          </a:p>
        </p:txBody>
      </p:sp>
      <p:sp>
        <p:nvSpPr>
          <p:cNvPr id="15" name="TextBox 15"/>
          <p:cNvSpPr txBox="1"/>
          <p:nvPr/>
        </p:nvSpPr>
        <p:spPr>
          <a:xfrm>
            <a:off x="13608001" y="1024222"/>
            <a:ext cx="2833386" cy="352425"/>
          </a:xfrm>
          <a:prstGeom prst="rect">
            <a:avLst/>
          </a:prstGeom>
        </p:spPr>
        <p:txBody>
          <a:bodyPr lIns="0" tIns="0" rIns="0" bIns="0" rtlCol="0" anchor="t">
            <a:spAutoFit/>
          </a:bodyPr>
          <a:lstStyle/>
          <a:p>
            <a:pPr marL="0" lvl="0" indent="0" algn="l">
              <a:lnSpc>
                <a:spcPts val="1439"/>
              </a:lnSpc>
              <a:spcBef>
                <a:spcPct val="0"/>
              </a:spcBef>
            </a:pPr>
            <a:r>
              <a:rPr lang="en-US" sz="1200" b="1" i="1" u="none" strike="noStrike">
                <a:solidFill>
                  <a:srgbClr val="FFFFFF"/>
                </a:solidFill>
                <a:latin typeface="TT Hoves Bold Italics"/>
                <a:ea typeface="TT Hoves Bold Italics"/>
                <a:cs typeface="TT Hoves Bold Italics"/>
                <a:sym typeface="TT Hoves Bold Italics"/>
              </a:rPr>
              <a:t>OVERCOMING CENTRALIZED INFERENCE LIMITATIONS</a:t>
            </a:r>
          </a:p>
        </p:txBody>
      </p:sp>
      <p:sp>
        <p:nvSpPr>
          <p:cNvPr id="17" name="TextBox 17"/>
          <p:cNvSpPr txBox="1"/>
          <p:nvPr/>
        </p:nvSpPr>
        <p:spPr>
          <a:xfrm>
            <a:off x="1028700" y="1033747"/>
            <a:ext cx="2507869" cy="316230"/>
          </a:xfrm>
          <a:prstGeom prst="rect">
            <a:avLst/>
          </a:prstGeom>
        </p:spPr>
        <p:txBody>
          <a:bodyPr lIns="0" tIns="0" rIns="0" bIns="0" rtlCol="0" anchor="t">
            <a:spAutoFit/>
          </a:bodyPr>
          <a:lstStyle/>
          <a:p>
            <a:pPr marL="0" lvl="0" indent="0" algn="l">
              <a:lnSpc>
                <a:spcPts val="1200"/>
              </a:lnSpc>
            </a:pPr>
            <a:r>
              <a:rPr lang="en-US" sz="1200">
                <a:solidFill>
                  <a:srgbClr val="FFFFFF"/>
                </a:solidFill>
                <a:latin typeface="TT Autonomous"/>
                <a:ea typeface="TT Autonomous"/>
                <a:cs typeface="TT Autonomous"/>
                <a:sym typeface="TT Autonomous"/>
              </a:rPr>
              <a:t>DISTRIBUTED DEEP LEARNING</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0179352" cy="6653065"/>
            <a:chOff x="0" y="0"/>
            <a:chExt cx="2036073" cy="1330745"/>
          </a:xfrm>
        </p:grpSpPr>
        <p:sp>
          <p:nvSpPr>
            <p:cNvPr id="3" name="Freeform 3"/>
            <p:cNvSpPr/>
            <p:nvPr/>
          </p:nvSpPr>
          <p:spPr>
            <a:xfrm>
              <a:off x="0" y="0"/>
              <a:ext cx="2036074" cy="1330745"/>
            </a:xfrm>
            <a:custGeom>
              <a:avLst/>
              <a:gdLst/>
              <a:ahLst/>
              <a:cxnLst/>
              <a:rect l="l" t="t" r="r" b="b"/>
              <a:pathLst>
                <a:path w="2036074" h="1330745">
                  <a:moveTo>
                    <a:pt x="1576768" y="716958"/>
                  </a:moveTo>
                  <a:lnTo>
                    <a:pt x="1576768" y="557293"/>
                  </a:lnTo>
                  <a:cubicBezTo>
                    <a:pt x="1576769" y="524360"/>
                    <a:pt x="1563687" y="492776"/>
                    <a:pt x="1540400" y="469489"/>
                  </a:cubicBezTo>
                  <a:cubicBezTo>
                    <a:pt x="1517113" y="446202"/>
                    <a:pt x="1485529" y="433120"/>
                    <a:pt x="1452597" y="433120"/>
                  </a:cubicBezTo>
                  <a:lnTo>
                    <a:pt x="867306" y="433120"/>
                  </a:lnTo>
                  <a:cubicBezTo>
                    <a:pt x="798728" y="433120"/>
                    <a:pt x="743134" y="377526"/>
                    <a:pt x="743134" y="308948"/>
                  </a:cubicBezTo>
                  <a:lnTo>
                    <a:pt x="743134" y="124172"/>
                  </a:lnTo>
                  <a:cubicBezTo>
                    <a:pt x="743133" y="55594"/>
                    <a:pt x="687540" y="1"/>
                    <a:pt x="618962" y="0"/>
                  </a:cubicBezTo>
                  <a:lnTo>
                    <a:pt x="124172" y="0"/>
                  </a:lnTo>
                  <a:cubicBezTo>
                    <a:pt x="55594" y="1"/>
                    <a:pt x="1" y="55594"/>
                    <a:pt x="0" y="124172"/>
                  </a:cubicBezTo>
                  <a:lnTo>
                    <a:pt x="0" y="489613"/>
                  </a:lnTo>
                  <a:lnTo>
                    <a:pt x="0" y="798561"/>
                  </a:lnTo>
                  <a:cubicBezTo>
                    <a:pt x="0" y="867139"/>
                    <a:pt x="55593" y="922733"/>
                    <a:pt x="124172" y="922734"/>
                  </a:cubicBezTo>
                  <a:lnTo>
                    <a:pt x="1168766" y="922734"/>
                  </a:lnTo>
                  <a:cubicBezTo>
                    <a:pt x="1201698" y="922733"/>
                    <a:pt x="1233282" y="935816"/>
                    <a:pt x="1256569" y="959102"/>
                  </a:cubicBezTo>
                  <a:cubicBezTo>
                    <a:pt x="1279856" y="982389"/>
                    <a:pt x="1292938" y="1013973"/>
                    <a:pt x="1292937" y="1046905"/>
                  </a:cubicBezTo>
                  <a:lnTo>
                    <a:pt x="1292937" y="1206572"/>
                  </a:lnTo>
                  <a:cubicBezTo>
                    <a:pt x="1292937" y="1275151"/>
                    <a:pt x="1348532" y="1330745"/>
                    <a:pt x="1417110" y="1330745"/>
                  </a:cubicBezTo>
                  <a:lnTo>
                    <a:pt x="1911902" y="1330745"/>
                  </a:lnTo>
                  <a:cubicBezTo>
                    <a:pt x="1944835" y="1330745"/>
                    <a:pt x="1976419" y="1317663"/>
                    <a:pt x="1999706" y="1294376"/>
                  </a:cubicBezTo>
                  <a:cubicBezTo>
                    <a:pt x="2022992" y="1271089"/>
                    <a:pt x="2036075" y="1239505"/>
                    <a:pt x="2036074" y="1206572"/>
                  </a:cubicBezTo>
                  <a:lnTo>
                    <a:pt x="2036074" y="965303"/>
                  </a:lnTo>
                  <a:cubicBezTo>
                    <a:pt x="2036075" y="932370"/>
                    <a:pt x="2022992" y="900787"/>
                    <a:pt x="1999705" y="877500"/>
                  </a:cubicBezTo>
                  <a:cubicBezTo>
                    <a:pt x="1976419" y="854213"/>
                    <a:pt x="1944835" y="841131"/>
                    <a:pt x="1911902" y="841131"/>
                  </a:cubicBezTo>
                  <a:lnTo>
                    <a:pt x="1700943" y="841131"/>
                  </a:lnTo>
                  <a:cubicBezTo>
                    <a:pt x="1668010" y="841132"/>
                    <a:pt x="1636426" y="828049"/>
                    <a:pt x="1613138" y="804762"/>
                  </a:cubicBezTo>
                  <a:cubicBezTo>
                    <a:pt x="1589851" y="781475"/>
                    <a:pt x="1576768" y="749891"/>
                    <a:pt x="1576768" y="716958"/>
                  </a:cubicBezTo>
                  <a:close/>
                </a:path>
              </a:pathLst>
            </a:custGeom>
            <a:blipFill>
              <a:blip r:embed="rId2"/>
              <a:stretch>
                <a:fillRect t="-1542" b="-1542"/>
              </a:stretch>
            </a:blipFill>
          </p:spPr>
          <p:txBody>
            <a:bodyPr/>
            <a:lstStyle/>
            <a:p>
              <a:endParaRPr lang="en-IN"/>
            </a:p>
          </p:txBody>
        </p:sp>
      </p:grpSp>
      <p:grpSp>
        <p:nvGrpSpPr>
          <p:cNvPr id="10" name="Group 10"/>
          <p:cNvGrpSpPr/>
          <p:nvPr/>
        </p:nvGrpSpPr>
        <p:grpSpPr>
          <a:xfrm>
            <a:off x="5036968" y="1028700"/>
            <a:ext cx="3862347" cy="1900823"/>
            <a:chOff x="0" y="0"/>
            <a:chExt cx="598379" cy="294487"/>
          </a:xfrm>
        </p:grpSpPr>
        <p:sp>
          <p:nvSpPr>
            <p:cNvPr id="11" name="Freeform 11"/>
            <p:cNvSpPr/>
            <p:nvPr/>
          </p:nvSpPr>
          <p:spPr>
            <a:xfrm>
              <a:off x="0" y="0"/>
              <a:ext cx="598379" cy="294487"/>
            </a:xfrm>
            <a:custGeom>
              <a:avLst/>
              <a:gdLst/>
              <a:ahLst/>
              <a:cxnLst/>
              <a:rect l="l" t="t" r="r" b="b"/>
              <a:pathLst>
                <a:path w="598379" h="294487">
                  <a:moveTo>
                    <a:pt x="90201" y="0"/>
                  </a:moveTo>
                  <a:lnTo>
                    <a:pt x="508178" y="0"/>
                  </a:lnTo>
                  <a:cubicBezTo>
                    <a:pt x="532101" y="0"/>
                    <a:pt x="555044" y="9503"/>
                    <a:pt x="571959" y="26419"/>
                  </a:cubicBezTo>
                  <a:cubicBezTo>
                    <a:pt x="588875" y="43335"/>
                    <a:pt x="598379" y="66278"/>
                    <a:pt x="598379" y="90201"/>
                  </a:cubicBezTo>
                  <a:lnTo>
                    <a:pt x="598379" y="204287"/>
                  </a:lnTo>
                  <a:cubicBezTo>
                    <a:pt x="598379" y="254103"/>
                    <a:pt x="557994" y="294487"/>
                    <a:pt x="508178" y="294487"/>
                  </a:cubicBezTo>
                  <a:lnTo>
                    <a:pt x="90201" y="294487"/>
                  </a:lnTo>
                  <a:cubicBezTo>
                    <a:pt x="40384" y="294487"/>
                    <a:pt x="0" y="254103"/>
                    <a:pt x="0" y="204287"/>
                  </a:cubicBezTo>
                  <a:lnTo>
                    <a:pt x="0" y="90201"/>
                  </a:lnTo>
                  <a:cubicBezTo>
                    <a:pt x="0" y="40384"/>
                    <a:pt x="40384" y="0"/>
                    <a:pt x="90201" y="0"/>
                  </a:cubicBezTo>
                  <a:close/>
                </a:path>
              </a:pathLst>
            </a:custGeom>
            <a:blipFill>
              <a:blip r:embed="rId3"/>
              <a:stretch>
                <a:fillRect t="-7910" b="-7910"/>
              </a:stretch>
            </a:blipFill>
          </p:spPr>
          <p:txBody>
            <a:bodyPr/>
            <a:lstStyle/>
            <a:p>
              <a:endParaRPr lang="en-IN"/>
            </a:p>
          </p:txBody>
        </p:sp>
      </p:grpSp>
      <p:sp>
        <p:nvSpPr>
          <p:cNvPr id="12" name="TextBox 12"/>
          <p:cNvSpPr txBox="1"/>
          <p:nvPr/>
        </p:nvSpPr>
        <p:spPr>
          <a:xfrm>
            <a:off x="1028700" y="7681765"/>
            <a:ext cx="5829300" cy="903837"/>
          </a:xfrm>
          <a:prstGeom prst="rect">
            <a:avLst/>
          </a:prstGeom>
        </p:spPr>
        <p:txBody>
          <a:bodyPr wrap="square" lIns="0" tIns="0" rIns="0" bIns="0" rtlCol="0" anchor="t">
            <a:spAutoFit/>
          </a:bodyPr>
          <a:lstStyle/>
          <a:p>
            <a:pPr marL="0" lvl="0" indent="0" algn="l">
              <a:lnSpc>
                <a:spcPts val="6744"/>
              </a:lnSpc>
            </a:pPr>
            <a:r>
              <a:rPr lang="en-IN" sz="6744" b="1" dirty="0">
                <a:solidFill>
                  <a:srgbClr val="FFFFFF"/>
                </a:solidFill>
                <a:latin typeface="TT Autonomous Bold"/>
                <a:ea typeface="TT Autonomous Bold"/>
                <a:cs typeface="TT Autonomous Bold"/>
                <a:sym typeface="TT Autonomous Bold"/>
              </a:rPr>
              <a:t>Solution </a:t>
            </a:r>
            <a:endParaRPr lang="en-US" sz="6744" b="1" dirty="0">
              <a:solidFill>
                <a:srgbClr val="FFFFFF"/>
              </a:solidFill>
              <a:latin typeface="TT Autonomous Bold"/>
              <a:ea typeface="TT Autonomous Bold"/>
              <a:cs typeface="TT Autonomous Bold"/>
              <a:sym typeface="TT Autonomous Bold"/>
            </a:endParaRPr>
          </a:p>
        </p:txBody>
      </p:sp>
      <p:sp>
        <p:nvSpPr>
          <p:cNvPr id="14" name="TextBox 14"/>
          <p:cNvSpPr txBox="1"/>
          <p:nvPr/>
        </p:nvSpPr>
        <p:spPr>
          <a:xfrm>
            <a:off x="1028700" y="6974569"/>
            <a:ext cx="2507869" cy="316230"/>
          </a:xfrm>
          <a:prstGeom prst="rect">
            <a:avLst/>
          </a:prstGeom>
        </p:spPr>
        <p:txBody>
          <a:bodyPr lIns="0" tIns="0" rIns="0" bIns="0" rtlCol="0" anchor="t">
            <a:spAutoFit/>
          </a:bodyPr>
          <a:lstStyle/>
          <a:p>
            <a:pPr marL="0" lvl="0" indent="0" algn="l">
              <a:lnSpc>
                <a:spcPts val="1200"/>
              </a:lnSpc>
            </a:pPr>
            <a:r>
              <a:rPr lang="en-US" sz="1200" dirty="0">
                <a:solidFill>
                  <a:srgbClr val="FFFFFF"/>
                </a:solidFill>
                <a:latin typeface="TT Autonomous"/>
                <a:ea typeface="TT Autonomous"/>
                <a:cs typeface="TT Autonomous"/>
                <a:sym typeface="TT Autonomous"/>
              </a:rPr>
              <a:t>DISTRIBUTED DEEP LEARNING</a:t>
            </a:r>
          </a:p>
        </p:txBody>
      </p:sp>
      <p:sp>
        <p:nvSpPr>
          <p:cNvPr id="15" name="TextBox 15"/>
          <p:cNvSpPr txBox="1"/>
          <p:nvPr/>
        </p:nvSpPr>
        <p:spPr>
          <a:xfrm>
            <a:off x="9677400" y="3013484"/>
            <a:ext cx="8105079" cy="1731243"/>
          </a:xfrm>
          <a:prstGeom prst="rect">
            <a:avLst/>
          </a:prstGeom>
        </p:spPr>
        <p:txBody>
          <a:bodyPr wrap="square" lIns="0" tIns="0" rIns="0" bIns="0" rtlCol="0" anchor="t">
            <a:spAutoFit/>
          </a:bodyPr>
          <a:lstStyle/>
          <a:p>
            <a:pPr lvl="0">
              <a:lnSpc>
                <a:spcPts val="1439"/>
              </a:lnSpc>
            </a:pPr>
            <a:r>
              <a:rPr lang="en-IN" sz="4000" b="1" dirty="0">
                <a:solidFill>
                  <a:schemeClr val="bg1"/>
                </a:solidFill>
                <a:latin typeface="ISOCP3" panose="00000400000000000000" pitchFamily="2" charset="0"/>
                <a:cs typeface="ISOCP3" panose="00000400000000000000" pitchFamily="2" charset="0"/>
              </a:rPr>
              <a:t>Layer 1 — Async Network I/O</a:t>
            </a:r>
          </a:p>
          <a:p>
            <a:pPr lvl="0">
              <a:lnSpc>
                <a:spcPts val="1439"/>
              </a:lnSpc>
            </a:pPr>
            <a:endParaRPr lang="en-IN" sz="4000" b="1" dirty="0">
              <a:solidFill>
                <a:schemeClr val="bg1"/>
              </a:solidFill>
              <a:latin typeface="ISOCP3" panose="00000400000000000000" pitchFamily="2" charset="0"/>
              <a:cs typeface="ISOCP3" panose="00000400000000000000" pitchFamily="2" charset="0"/>
            </a:endParaRPr>
          </a:p>
          <a:p>
            <a:pPr lvl="0">
              <a:lnSpc>
                <a:spcPts val="1439"/>
              </a:lnSpc>
            </a:pPr>
            <a:endParaRPr lang="en-IN" sz="4000" b="1" dirty="0">
              <a:solidFill>
                <a:schemeClr val="bg1"/>
              </a:solidFill>
              <a:latin typeface="ISOCP3" panose="00000400000000000000" pitchFamily="2" charset="0"/>
              <a:cs typeface="ISOCP3" panose="00000400000000000000" pitchFamily="2" charset="0"/>
            </a:endParaRPr>
          </a:p>
          <a:p>
            <a:pPr lvl="0">
              <a:lnSpc>
                <a:spcPts val="1439"/>
              </a:lnSpc>
            </a:pPr>
            <a:endParaRPr lang="en-IN" sz="4400" b="1" spc="-12" dirty="0">
              <a:solidFill>
                <a:schemeClr val="bg1"/>
              </a:solidFill>
              <a:latin typeface="ISOCP3" panose="00000400000000000000" pitchFamily="2" charset="0"/>
              <a:ea typeface="TT Hoves"/>
              <a:cs typeface="ISOCP3" panose="00000400000000000000" pitchFamily="2" charset="0"/>
              <a:sym typeface="TT Hoves"/>
            </a:endParaRPr>
          </a:p>
          <a:p>
            <a:pPr lvl="0">
              <a:lnSpc>
                <a:spcPts val="1439"/>
              </a:lnSpc>
            </a:pPr>
            <a:r>
              <a:rPr lang="en-IN" sz="4000" b="1" dirty="0">
                <a:solidFill>
                  <a:schemeClr val="bg1"/>
                </a:solidFill>
                <a:latin typeface="ISOCP3" panose="00000400000000000000" pitchFamily="2" charset="0"/>
                <a:cs typeface="ISOCP3" panose="00000400000000000000" pitchFamily="2" charset="0"/>
              </a:rPr>
              <a:t>Layer 2 — CPU Preprocessing Pool</a:t>
            </a:r>
          </a:p>
          <a:p>
            <a:pPr lvl="0">
              <a:lnSpc>
                <a:spcPts val="1439"/>
              </a:lnSpc>
            </a:pPr>
            <a:endParaRPr lang="en-IN" sz="4400" b="1" spc="-12" dirty="0">
              <a:solidFill>
                <a:schemeClr val="bg1"/>
              </a:solidFill>
              <a:latin typeface="ISOCP3" panose="00000400000000000000" pitchFamily="2" charset="0"/>
              <a:ea typeface="TT Hoves"/>
              <a:cs typeface="ISOCP3" panose="00000400000000000000" pitchFamily="2" charset="0"/>
              <a:sym typeface="TT Hoves"/>
            </a:endParaRPr>
          </a:p>
          <a:p>
            <a:pPr lvl="0">
              <a:lnSpc>
                <a:spcPts val="1439"/>
              </a:lnSpc>
            </a:pPr>
            <a:endParaRPr lang="en-IN" sz="4400" b="1" spc="-12" dirty="0">
              <a:solidFill>
                <a:schemeClr val="bg1"/>
              </a:solidFill>
              <a:latin typeface="ISOCP3" panose="00000400000000000000" pitchFamily="2" charset="0"/>
              <a:ea typeface="TT Hoves"/>
              <a:cs typeface="ISOCP3" panose="00000400000000000000" pitchFamily="2" charset="0"/>
              <a:sym typeface="TT Hoves"/>
            </a:endParaRPr>
          </a:p>
          <a:p>
            <a:pPr lvl="0">
              <a:lnSpc>
                <a:spcPts val="1439"/>
              </a:lnSpc>
            </a:pPr>
            <a:endParaRPr lang="en-IN" sz="4400" b="1" spc="-12" dirty="0">
              <a:solidFill>
                <a:schemeClr val="bg1"/>
              </a:solidFill>
              <a:latin typeface="ISOCP3" panose="00000400000000000000" pitchFamily="2" charset="0"/>
              <a:ea typeface="TT Hoves"/>
              <a:cs typeface="ISOCP3" panose="00000400000000000000" pitchFamily="2" charset="0"/>
              <a:sym typeface="TT Hoves"/>
            </a:endParaRPr>
          </a:p>
          <a:p>
            <a:pPr lvl="0">
              <a:lnSpc>
                <a:spcPts val="1439"/>
              </a:lnSpc>
            </a:pPr>
            <a:r>
              <a:rPr lang="en-IN" sz="4000" b="1" dirty="0">
                <a:solidFill>
                  <a:schemeClr val="bg1"/>
                </a:solidFill>
                <a:latin typeface="ISOCP3" panose="00000400000000000000" pitchFamily="2" charset="0"/>
                <a:cs typeface="ISOCP3" panose="00000400000000000000" pitchFamily="2" charset="0"/>
              </a:rPr>
              <a:t>Layer 3 — GPU Batch Engin</a:t>
            </a:r>
            <a:endParaRPr lang="en-US" sz="4400" spc="-12" dirty="0">
              <a:solidFill>
                <a:schemeClr val="bg1"/>
              </a:solidFill>
              <a:latin typeface="ISOCP3" panose="00000400000000000000" pitchFamily="2" charset="0"/>
              <a:ea typeface="TT Hoves"/>
              <a:cs typeface="ISOCP3" panose="00000400000000000000" pitchFamily="2" charset="0"/>
              <a:sym typeface="TT Hoves"/>
            </a:endParaRPr>
          </a:p>
        </p:txBody>
      </p:sp>
      <p:sp>
        <p:nvSpPr>
          <p:cNvPr id="16" name="TextBox 16"/>
          <p:cNvSpPr txBox="1"/>
          <p:nvPr/>
        </p:nvSpPr>
        <p:spPr>
          <a:xfrm>
            <a:off x="9278529" y="1979111"/>
            <a:ext cx="8368955" cy="288541"/>
          </a:xfrm>
          <a:prstGeom prst="rect">
            <a:avLst/>
          </a:prstGeom>
        </p:spPr>
        <p:txBody>
          <a:bodyPr wrap="square" lIns="0" tIns="0" rIns="0" bIns="0" rtlCol="0" anchor="t">
            <a:spAutoFit/>
          </a:bodyPr>
          <a:lstStyle/>
          <a:p>
            <a:pPr lvl="0">
              <a:lnSpc>
                <a:spcPts val="1439"/>
              </a:lnSpc>
            </a:pPr>
            <a:r>
              <a:rPr lang="en-IN" sz="4000" dirty="0">
                <a:solidFill>
                  <a:schemeClr val="bg1"/>
                </a:solidFill>
                <a:latin typeface="ISOCP3" panose="00000400000000000000" pitchFamily="2" charset="0"/>
                <a:cs typeface="ISOCP3" panose="00000400000000000000" pitchFamily="2" charset="0"/>
              </a:rPr>
              <a:t>High-Level Overview</a:t>
            </a:r>
            <a:endParaRPr lang="en-US" sz="2800" i="1" dirty="0">
              <a:solidFill>
                <a:schemeClr val="bg1"/>
              </a:solidFill>
              <a:latin typeface="ISOCP3" panose="00000400000000000000" pitchFamily="2" charset="0"/>
              <a:ea typeface="TT Hoves Bold Italics"/>
              <a:cs typeface="ISOCP3" panose="00000400000000000000" pitchFamily="2" charset="0"/>
              <a:sym typeface="TT Hoves Bold Italic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anim calcmode="lin" valueType="num">
                                      <p:cBhvr>
                                        <p:cTn id="13" dur="1000" fill="hold"/>
                                        <p:tgtEl>
                                          <p:spTgt spid="14"/>
                                        </p:tgtEl>
                                        <p:attrNameLst>
                                          <p:attrName>ppt_x</p:attrName>
                                        </p:attrNameLst>
                                      </p:cBhvr>
                                      <p:tavLst>
                                        <p:tav tm="0">
                                          <p:val>
                                            <p:strVal val="#ppt_x"/>
                                          </p:val>
                                        </p:tav>
                                        <p:tav tm="100000">
                                          <p:val>
                                            <p:strVal val="#ppt_x"/>
                                          </p:val>
                                        </p:tav>
                                      </p:tavLst>
                                    </p:anim>
                                    <p:anim calcmode="lin" valueType="num">
                                      <p:cBhvr>
                                        <p:cTn id="1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ppt_x"/>
                                          </p:val>
                                        </p:tav>
                                        <p:tav tm="100000">
                                          <p:val>
                                            <p:strVal val="#ppt_x"/>
                                          </p:val>
                                        </p:tav>
                                      </p:tavLst>
                                    </p:anim>
                                    <p:anim calcmode="lin" valueType="num">
                                      <p:cBhvr additive="base">
                                        <p:cTn id="20" dur="500" fill="hold"/>
                                        <p:tgtEl>
                                          <p:spTgt spid="15"/>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 calcmode="lin" valueType="num">
                                      <p:cBhvr additive="base">
                                        <p:cTn id="23" dur="500" fill="hold"/>
                                        <p:tgtEl>
                                          <p:spTgt spid="16"/>
                                        </p:tgtEl>
                                        <p:attrNameLst>
                                          <p:attrName>ppt_x</p:attrName>
                                        </p:attrNameLst>
                                      </p:cBhvr>
                                      <p:tavLst>
                                        <p:tav tm="0">
                                          <p:val>
                                            <p:strVal val="#ppt_x"/>
                                          </p:val>
                                        </p:tav>
                                        <p:tav tm="100000">
                                          <p:val>
                                            <p:strVal val="#ppt_x"/>
                                          </p:val>
                                        </p:tav>
                                      </p:tavLst>
                                    </p:anim>
                                    <p:anim calcmode="lin" valueType="num">
                                      <p:cBhvr additive="base">
                                        <p:cTn id="2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5" grpId="0"/>
      <p:bldP spid="16"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3279823"/>
            <a:ext cx="6452131" cy="5978477"/>
            <a:chOff x="0" y="0"/>
            <a:chExt cx="1699327" cy="1574578"/>
          </a:xfrm>
        </p:grpSpPr>
        <p:sp>
          <p:nvSpPr>
            <p:cNvPr id="3" name="Freeform 3"/>
            <p:cNvSpPr/>
            <p:nvPr/>
          </p:nvSpPr>
          <p:spPr>
            <a:xfrm>
              <a:off x="0" y="0"/>
              <a:ext cx="1699327" cy="1574578"/>
            </a:xfrm>
            <a:custGeom>
              <a:avLst/>
              <a:gdLst/>
              <a:ahLst/>
              <a:cxnLst/>
              <a:rect l="l" t="t" r="r" b="b"/>
              <a:pathLst>
                <a:path w="1699327" h="1574578">
                  <a:moveTo>
                    <a:pt x="41997" y="0"/>
                  </a:moveTo>
                  <a:lnTo>
                    <a:pt x="1657330" y="0"/>
                  </a:lnTo>
                  <a:cubicBezTo>
                    <a:pt x="1668468" y="0"/>
                    <a:pt x="1679150" y="4425"/>
                    <a:pt x="1687026" y="12301"/>
                  </a:cubicBezTo>
                  <a:cubicBezTo>
                    <a:pt x="1694902" y="20176"/>
                    <a:pt x="1699327" y="30858"/>
                    <a:pt x="1699327" y="41997"/>
                  </a:cubicBezTo>
                  <a:lnTo>
                    <a:pt x="1699327" y="1532582"/>
                  </a:lnTo>
                  <a:cubicBezTo>
                    <a:pt x="1699327" y="1543720"/>
                    <a:pt x="1694902" y="1554402"/>
                    <a:pt x="1687026" y="1562278"/>
                  </a:cubicBezTo>
                  <a:cubicBezTo>
                    <a:pt x="1679150" y="1570154"/>
                    <a:pt x="1668468" y="1574578"/>
                    <a:pt x="1657330" y="1574578"/>
                  </a:cubicBezTo>
                  <a:lnTo>
                    <a:pt x="41997" y="1574578"/>
                  </a:lnTo>
                  <a:cubicBezTo>
                    <a:pt x="30858" y="1574578"/>
                    <a:pt x="20176" y="1570154"/>
                    <a:pt x="12301" y="1562278"/>
                  </a:cubicBezTo>
                  <a:cubicBezTo>
                    <a:pt x="4425" y="1554402"/>
                    <a:pt x="0" y="1543720"/>
                    <a:pt x="0" y="1532582"/>
                  </a:cubicBezTo>
                  <a:lnTo>
                    <a:pt x="0" y="41997"/>
                  </a:lnTo>
                  <a:cubicBezTo>
                    <a:pt x="0" y="30858"/>
                    <a:pt x="4425" y="20176"/>
                    <a:pt x="12301" y="12301"/>
                  </a:cubicBezTo>
                  <a:cubicBezTo>
                    <a:pt x="20176" y="4425"/>
                    <a:pt x="30858" y="0"/>
                    <a:pt x="41997" y="0"/>
                  </a:cubicBezTo>
                  <a:close/>
                </a:path>
              </a:pathLst>
            </a:custGeom>
            <a:solidFill>
              <a:srgbClr val="000000"/>
            </a:solidFill>
            <a:ln w="9525" cap="rnd">
              <a:solidFill>
                <a:srgbClr val="737373"/>
              </a:solidFill>
              <a:prstDash val="solid"/>
              <a:round/>
            </a:ln>
          </p:spPr>
          <p:txBody>
            <a:bodyPr/>
            <a:lstStyle/>
            <a:p>
              <a:endParaRPr lang="en-IN"/>
            </a:p>
          </p:txBody>
        </p:sp>
        <p:sp>
          <p:nvSpPr>
            <p:cNvPr id="4" name="TextBox 4"/>
            <p:cNvSpPr txBox="1"/>
            <p:nvPr/>
          </p:nvSpPr>
          <p:spPr>
            <a:xfrm>
              <a:off x="0" y="19050"/>
              <a:ext cx="1699327" cy="1555528"/>
            </a:xfrm>
            <a:prstGeom prst="rect">
              <a:avLst/>
            </a:prstGeom>
          </p:spPr>
          <p:txBody>
            <a:bodyPr lIns="50800" tIns="50800" rIns="50800" bIns="50800" rtlCol="0" anchor="ctr"/>
            <a:lstStyle/>
            <a:p>
              <a:pPr marL="0" lvl="0" indent="0" algn="ctr">
                <a:lnSpc>
                  <a:spcPts val="1400"/>
                </a:lnSpc>
              </a:pPr>
              <a:endParaRPr/>
            </a:p>
          </p:txBody>
        </p:sp>
      </p:grpSp>
      <p:grpSp>
        <p:nvGrpSpPr>
          <p:cNvPr id="5" name="Group 5"/>
          <p:cNvGrpSpPr/>
          <p:nvPr/>
        </p:nvGrpSpPr>
        <p:grpSpPr>
          <a:xfrm>
            <a:off x="6865938" y="1125226"/>
            <a:ext cx="7063034" cy="8133074"/>
            <a:chOff x="0" y="0"/>
            <a:chExt cx="1934557" cy="2227640"/>
          </a:xfrm>
        </p:grpSpPr>
        <p:sp>
          <p:nvSpPr>
            <p:cNvPr id="6" name="Freeform 6"/>
            <p:cNvSpPr/>
            <p:nvPr/>
          </p:nvSpPr>
          <p:spPr>
            <a:xfrm>
              <a:off x="0" y="0"/>
              <a:ext cx="1934558" cy="2227640"/>
            </a:xfrm>
            <a:custGeom>
              <a:avLst/>
              <a:gdLst/>
              <a:ahLst/>
              <a:cxnLst/>
              <a:rect l="l" t="t" r="r" b="b"/>
              <a:pathLst>
                <a:path w="1934558" h="2227640">
                  <a:moveTo>
                    <a:pt x="1833071" y="0"/>
                  </a:moveTo>
                  <a:lnTo>
                    <a:pt x="993437" y="0"/>
                  </a:lnTo>
                  <a:cubicBezTo>
                    <a:pt x="937388" y="0"/>
                    <a:pt x="891952" y="45437"/>
                    <a:pt x="891952" y="101486"/>
                  </a:cubicBezTo>
                  <a:lnTo>
                    <a:pt x="891952" y="494266"/>
                  </a:lnTo>
                  <a:cubicBezTo>
                    <a:pt x="891952" y="521182"/>
                    <a:pt x="881260" y="546996"/>
                    <a:pt x="862228" y="566028"/>
                  </a:cubicBezTo>
                  <a:cubicBezTo>
                    <a:pt x="843195" y="585061"/>
                    <a:pt x="817382" y="595753"/>
                    <a:pt x="790466" y="595753"/>
                  </a:cubicBezTo>
                  <a:lnTo>
                    <a:pt x="101486" y="595753"/>
                  </a:lnTo>
                  <a:cubicBezTo>
                    <a:pt x="74570" y="595753"/>
                    <a:pt x="48757" y="606445"/>
                    <a:pt x="29724" y="625478"/>
                  </a:cubicBezTo>
                  <a:cubicBezTo>
                    <a:pt x="10692" y="644510"/>
                    <a:pt x="0" y="670323"/>
                    <a:pt x="0" y="697239"/>
                  </a:cubicBezTo>
                  <a:lnTo>
                    <a:pt x="0" y="2126154"/>
                  </a:lnTo>
                  <a:cubicBezTo>
                    <a:pt x="0" y="2182203"/>
                    <a:pt x="45437" y="2227640"/>
                    <a:pt x="101486" y="2227640"/>
                  </a:cubicBezTo>
                  <a:lnTo>
                    <a:pt x="1321998" y="2227640"/>
                  </a:lnTo>
                  <a:cubicBezTo>
                    <a:pt x="1378047" y="2227640"/>
                    <a:pt x="1423484" y="2182203"/>
                    <a:pt x="1423484" y="2126154"/>
                  </a:cubicBezTo>
                  <a:lnTo>
                    <a:pt x="1423484" y="986605"/>
                  </a:lnTo>
                  <a:cubicBezTo>
                    <a:pt x="1423484" y="959689"/>
                    <a:pt x="1434176" y="933875"/>
                    <a:pt x="1453208" y="914843"/>
                  </a:cubicBezTo>
                  <a:cubicBezTo>
                    <a:pt x="1472241" y="895811"/>
                    <a:pt x="1498055" y="885119"/>
                    <a:pt x="1524971" y="885119"/>
                  </a:cubicBezTo>
                  <a:lnTo>
                    <a:pt x="1833073" y="885119"/>
                  </a:lnTo>
                  <a:cubicBezTo>
                    <a:pt x="1859989" y="885119"/>
                    <a:pt x="1885802" y="874426"/>
                    <a:pt x="1904834" y="855394"/>
                  </a:cubicBezTo>
                  <a:cubicBezTo>
                    <a:pt x="1923866" y="836361"/>
                    <a:pt x="1934559" y="810548"/>
                    <a:pt x="1934558" y="783632"/>
                  </a:cubicBezTo>
                  <a:lnTo>
                    <a:pt x="1934558" y="101486"/>
                  </a:lnTo>
                  <a:cubicBezTo>
                    <a:pt x="1934558" y="74570"/>
                    <a:pt x="1923866" y="48756"/>
                    <a:pt x="1904833" y="29724"/>
                  </a:cubicBezTo>
                  <a:cubicBezTo>
                    <a:pt x="1885801" y="10692"/>
                    <a:pt x="1859987" y="0"/>
                    <a:pt x="1833071" y="0"/>
                  </a:cubicBezTo>
                  <a:close/>
                </a:path>
              </a:pathLst>
            </a:custGeom>
            <a:blipFill>
              <a:blip r:embed="rId2"/>
              <a:stretch>
                <a:fillRect t="-3689" b="-3689"/>
              </a:stretch>
            </a:blipFill>
          </p:spPr>
          <p:txBody>
            <a:bodyPr/>
            <a:lstStyle/>
            <a:p>
              <a:endParaRPr lang="en-IN"/>
            </a:p>
          </p:txBody>
        </p:sp>
      </p:grpSp>
      <p:grpSp>
        <p:nvGrpSpPr>
          <p:cNvPr id="7" name="Group 7"/>
          <p:cNvGrpSpPr/>
          <p:nvPr/>
        </p:nvGrpSpPr>
        <p:grpSpPr>
          <a:xfrm>
            <a:off x="1376196" y="3645877"/>
            <a:ext cx="5246365" cy="5246370"/>
            <a:chOff x="0" y="0"/>
            <a:chExt cx="1419732" cy="1419733"/>
          </a:xfrm>
        </p:grpSpPr>
        <p:sp>
          <p:nvSpPr>
            <p:cNvPr id="8" name="Freeform 8"/>
            <p:cNvSpPr/>
            <p:nvPr/>
          </p:nvSpPr>
          <p:spPr>
            <a:xfrm>
              <a:off x="0" y="0"/>
              <a:ext cx="1419733" cy="1419746"/>
            </a:xfrm>
            <a:custGeom>
              <a:avLst/>
              <a:gdLst/>
              <a:ahLst/>
              <a:cxnLst/>
              <a:rect l="l" t="t" r="r" b="b"/>
              <a:pathLst>
                <a:path w="1419733" h="1419746">
                  <a:moveTo>
                    <a:pt x="932290" y="0"/>
                  </a:moveTo>
                  <a:lnTo>
                    <a:pt x="177673" y="0"/>
                  </a:lnTo>
                  <a:cubicBezTo>
                    <a:pt x="79547" y="0"/>
                    <a:pt x="0" y="79547"/>
                    <a:pt x="0" y="177673"/>
                  </a:cubicBezTo>
                  <a:lnTo>
                    <a:pt x="0" y="1242073"/>
                  </a:lnTo>
                  <a:cubicBezTo>
                    <a:pt x="0" y="1340199"/>
                    <a:pt x="79547" y="1419746"/>
                    <a:pt x="177673" y="1419746"/>
                  </a:cubicBezTo>
                  <a:lnTo>
                    <a:pt x="1242060" y="1419746"/>
                  </a:lnTo>
                  <a:cubicBezTo>
                    <a:pt x="1340186" y="1419746"/>
                    <a:pt x="1419733" y="1340199"/>
                    <a:pt x="1419733" y="1242073"/>
                  </a:cubicBezTo>
                  <a:lnTo>
                    <a:pt x="1419733" y="523958"/>
                  </a:lnTo>
                  <a:cubicBezTo>
                    <a:pt x="1419733" y="480251"/>
                    <a:pt x="1403623" y="438079"/>
                    <a:pt x="1374484" y="405503"/>
                  </a:cubicBezTo>
                  <a:lnTo>
                    <a:pt x="1064707" y="59214"/>
                  </a:lnTo>
                  <a:cubicBezTo>
                    <a:pt x="1031003" y="21536"/>
                    <a:pt x="982844" y="0"/>
                    <a:pt x="932290" y="0"/>
                  </a:cubicBezTo>
                  <a:close/>
                </a:path>
              </a:pathLst>
            </a:custGeom>
            <a:blipFill>
              <a:blip r:embed="rId3"/>
              <a:stretch>
                <a:fillRect/>
              </a:stretch>
            </a:blipFill>
          </p:spPr>
          <p:txBody>
            <a:bodyPr/>
            <a:lstStyle/>
            <a:p>
              <a:endParaRPr lang="en-IN"/>
            </a:p>
          </p:txBody>
        </p:sp>
      </p:grpSp>
      <p:sp>
        <p:nvSpPr>
          <p:cNvPr id="9" name="Freeform 9"/>
          <p:cNvSpPr/>
          <p:nvPr/>
        </p:nvSpPr>
        <p:spPr>
          <a:xfrm>
            <a:off x="6303516" y="3683617"/>
            <a:ext cx="319046" cy="319046"/>
          </a:xfrm>
          <a:custGeom>
            <a:avLst/>
            <a:gdLst/>
            <a:ahLst/>
            <a:cxnLst/>
            <a:rect l="l" t="t" r="r" b="b"/>
            <a:pathLst>
              <a:path w="319046" h="319046">
                <a:moveTo>
                  <a:pt x="0" y="0"/>
                </a:moveTo>
                <a:lnTo>
                  <a:pt x="319045" y="0"/>
                </a:lnTo>
                <a:lnTo>
                  <a:pt x="319045" y="319046"/>
                </a:lnTo>
                <a:lnTo>
                  <a:pt x="0" y="31904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0" name="TextBox 10"/>
          <p:cNvSpPr txBox="1"/>
          <p:nvPr/>
        </p:nvSpPr>
        <p:spPr>
          <a:xfrm>
            <a:off x="838200" y="1089401"/>
            <a:ext cx="9334500" cy="701141"/>
          </a:xfrm>
          <a:prstGeom prst="rect">
            <a:avLst/>
          </a:prstGeom>
        </p:spPr>
        <p:txBody>
          <a:bodyPr wrap="square" lIns="0" tIns="0" rIns="0" bIns="0" rtlCol="0" anchor="t">
            <a:spAutoFit/>
          </a:bodyPr>
          <a:lstStyle/>
          <a:p>
            <a:pPr marL="0" lvl="0" indent="0" algn="l">
              <a:lnSpc>
                <a:spcPts val="5225"/>
              </a:lnSpc>
            </a:pPr>
            <a:r>
              <a:rPr lang="en-US" sz="5225" b="1" dirty="0">
                <a:solidFill>
                  <a:srgbClr val="FFFFFF"/>
                </a:solidFill>
                <a:latin typeface="TT Autonomous Bold"/>
                <a:ea typeface="TT Autonomous Bold"/>
                <a:cs typeface="TT Autonomous Bold"/>
                <a:sym typeface="TT Autonomous Bold"/>
              </a:rPr>
              <a:t>IMPLEMENTATION</a:t>
            </a:r>
          </a:p>
        </p:txBody>
      </p:sp>
      <p:sp>
        <p:nvSpPr>
          <p:cNvPr id="11" name="TextBox 11"/>
          <p:cNvSpPr txBox="1"/>
          <p:nvPr/>
        </p:nvSpPr>
        <p:spPr>
          <a:xfrm>
            <a:off x="838200" y="1895285"/>
            <a:ext cx="6452131" cy="876221"/>
          </a:xfrm>
          <a:prstGeom prst="rect">
            <a:avLst/>
          </a:prstGeom>
        </p:spPr>
        <p:txBody>
          <a:bodyPr lIns="0" tIns="0" rIns="0" bIns="0" rtlCol="0" anchor="t">
            <a:spAutoFit/>
          </a:bodyPr>
          <a:lstStyle/>
          <a:p>
            <a:pPr marL="0" lvl="0" indent="0" algn="l">
              <a:lnSpc>
                <a:spcPts val="6678"/>
              </a:lnSpc>
            </a:pPr>
            <a:r>
              <a:rPr lang="en-US" sz="6678" dirty="0">
                <a:solidFill>
                  <a:srgbClr val="FFFFFF"/>
                </a:solidFill>
                <a:latin typeface="TT Autonomous"/>
                <a:ea typeface="TT Autonomous"/>
                <a:cs typeface="TT Autonomous"/>
                <a:sym typeface="TT Autonomous"/>
              </a:rPr>
              <a:t>PROCESS</a:t>
            </a:r>
          </a:p>
        </p:txBody>
      </p:sp>
      <p:sp>
        <p:nvSpPr>
          <p:cNvPr id="12" name="TextBox 12"/>
          <p:cNvSpPr txBox="1"/>
          <p:nvPr/>
        </p:nvSpPr>
        <p:spPr>
          <a:xfrm>
            <a:off x="13194282" y="5594860"/>
            <a:ext cx="4065018" cy="628650"/>
          </a:xfrm>
          <a:prstGeom prst="rect">
            <a:avLst/>
          </a:prstGeom>
        </p:spPr>
        <p:txBody>
          <a:bodyPr lIns="0" tIns="0" rIns="0" bIns="0" rtlCol="0" anchor="t">
            <a:spAutoFit/>
          </a:bodyPr>
          <a:lstStyle/>
          <a:p>
            <a:pPr marL="0" lvl="0" indent="0" algn="l">
              <a:lnSpc>
                <a:spcPts val="1652"/>
              </a:lnSpc>
            </a:pPr>
            <a:r>
              <a:rPr lang="en-US" sz="1377" spc="-13">
                <a:solidFill>
                  <a:srgbClr val="FFFFFF"/>
                </a:solidFill>
                <a:latin typeface="TT Hoves"/>
                <a:ea typeface="TT Hoves"/>
                <a:cs typeface="TT Hoves"/>
                <a:sym typeface="TT Hoves"/>
              </a:rPr>
              <a:t>Configure compute clusters, set up container orchestration, and establish network infrastructure for distributed inference workloads.</a:t>
            </a:r>
          </a:p>
        </p:txBody>
      </p:sp>
      <p:sp>
        <p:nvSpPr>
          <p:cNvPr id="13" name="TextBox 13"/>
          <p:cNvSpPr txBox="1"/>
          <p:nvPr/>
        </p:nvSpPr>
        <p:spPr>
          <a:xfrm>
            <a:off x="15177518" y="3279823"/>
            <a:ext cx="2081782" cy="628650"/>
          </a:xfrm>
          <a:prstGeom prst="rect">
            <a:avLst/>
          </a:prstGeom>
        </p:spPr>
        <p:txBody>
          <a:bodyPr lIns="0" tIns="0" rIns="0" bIns="0" rtlCol="0" anchor="t">
            <a:spAutoFit/>
          </a:bodyPr>
          <a:lstStyle/>
          <a:p>
            <a:pPr marL="0" lvl="0" indent="0" algn="l">
              <a:lnSpc>
                <a:spcPts val="1652"/>
              </a:lnSpc>
              <a:spcBef>
                <a:spcPct val="0"/>
              </a:spcBef>
            </a:pPr>
            <a:r>
              <a:rPr lang="en-US" sz="1377" b="1" i="1" u="none" strike="noStrike" dirty="0">
                <a:solidFill>
                  <a:srgbClr val="FFFFFF"/>
                </a:solidFill>
                <a:latin typeface="TT Hoves Bold Italics"/>
                <a:ea typeface="TT Hoves Bold Italics"/>
                <a:cs typeface="TT Hoves Bold Italics"/>
                <a:sym typeface="TT Hoves Bold Italics"/>
              </a:rPr>
              <a:t>FOUR STEPS TO PRODUCTION DEPLOYMENT</a:t>
            </a:r>
          </a:p>
        </p:txBody>
      </p:sp>
      <p:sp>
        <p:nvSpPr>
          <p:cNvPr id="14" name="TextBox 14"/>
          <p:cNvSpPr txBox="1"/>
          <p:nvPr/>
        </p:nvSpPr>
        <p:spPr>
          <a:xfrm>
            <a:off x="13194282" y="5191763"/>
            <a:ext cx="4065018" cy="209550"/>
          </a:xfrm>
          <a:prstGeom prst="rect">
            <a:avLst/>
          </a:prstGeom>
        </p:spPr>
        <p:txBody>
          <a:bodyPr lIns="0" tIns="0" rIns="0" bIns="0" rtlCol="0" anchor="t">
            <a:spAutoFit/>
          </a:bodyPr>
          <a:lstStyle/>
          <a:p>
            <a:pPr marL="0" lvl="0" indent="0" algn="l">
              <a:lnSpc>
                <a:spcPts val="1652"/>
              </a:lnSpc>
            </a:pPr>
            <a:r>
              <a:rPr lang="en-US" sz="1377" spc="-13">
                <a:solidFill>
                  <a:srgbClr val="FFFFFF"/>
                </a:solidFill>
                <a:latin typeface="TT Hoves"/>
                <a:ea typeface="TT Hoves"/>
                <a:cs typeface="TT Hoves"/>
                <a:sym typeface="TT Hoves"/>
              </a:rPr>
              <a:t>INFRASTRUCTURE SETUP</a:t>
            </a:r>
          </a:p>
        </p:txBody>
      </p:sp>
      <p:sp>
        <p:nvSpPr>
          <p:cNvPr id="15" name="TextBox 15"/>
          <p:cNvSpPr txBox="1"/>
          <p:nvPr/>
        </p:nvSpPr>
        <p:spPr>
          <a:xfrm>
            <a:off x="13194282" y="7112305"/>
            <a:ext cx="4065018" cy="628650"/>
          </a:xfrm>
          <a:prstGeom prst="rect">
            <a:avLst/>
          </a:prstGeom>
        </p:spPr>
        <p:txBody>
          <a:bodyPr lIns="0" tIns="0" rIns="0" bIns="0" rtlCol="0" anchor="t">
            <a:spAutoFit/>
          </a:bodyPr>
          <a:lstStyle/>
          <a:p>
            <a:pPr marL="0" lvl="0" indent="0" algn="l">
              <a:lnSpc>
                <a:spcPts val="1652"/>
              </a:lnSpc>
            </a:pPr>
            <a:r>
              <a:rPr lang="en-US" sz="1377" spc="-13">
                <a:solidFill>
                  <a:srgbClr val="FFFFFF"/>
                </a:solidFill>
                <a:latin typeface="TT Hoves"/>
                <a:ea typeface="TT Hoves"/>
                <a:cs typeface="TT Hoves"/>
                <a:sym typeface="TT Hoves"/>
              </a:rPr>
              <a:t>Deploy optimized models across nodes, configure load balancers, and validate endpoint connectivity with comprehensive stress testing protocols.</a:t>
            </a:r>
          </a:p>
        </p:txBody>
      </p:sp>
      <p:sp>
        <p:nvSpPr>
          <p:cNvPr id="16" name="TextBox 16"/>
          <p:cNvSpPr txBox="1"/>
          <p:nvPr/>
        </p:nvSpPr>
        <p:spPr>
          <a:xfrm>
            <a:off x="13194282" y="6709208"/>
            <a:ext cx="4065018" cy="209550"/>
          </a:xfrm>
          <a:prstGeom prst="rect">
            <a:avLst/>
          </a:prstGeom>
        </p:spPr>
        <p:txBody>
          <a:bodyPr lIns="0" tIns="0" rIns="0" bIns="0" rtlCol="0" anchor="t">
            <a:spAutoFit/>
          </a:bodyPr>
          <a:lstStyle/>
          <a:p>
            <a:pPr marL="0" lvl="0" indent="0" algn="l">
              <a:lnSpc>
                <a:spcPts val="1652"/>
              </a:lnSpc>
            </a:pPr>
            <a:r>
              <a:rPr lang="en-US" sz="1377" spc="-13">
                <a:solidFill>
                  <a:srgbClr val="FFFFFF"/>
                </a:solidFill>
                <a:latin typeface="TT Hoves"/>
                <a:ea typeface="TT Hoves"/>
                <a:cs typeface="TT Hoves"/>
                <a:sym typeface="TT Hoves"/>
              </a:rPr>
              <a:t>MODEL DEPLOYMENT &amp; TESTING</a:t>
            </a:r>
          </a:p>
        </p:txBody>
      </p:sp>
      <p:sp>
        <p:nvSpPr>
          <p:cNvPr id="17" name="TextBox 17"/>
          <p:cNvSpPr txBox="1"/>
          <p:nvPr/>
        </p:nvSpPr>
        <p:spPr>
          <a:xfrm>
            <a:off x="13194282" y="8629749"/>
            <a:ext cx="4065018" cy="628650"/>
          </a:xfrm>
          <a:prstGeom prst="rect">
            <a:avLst/>
          </a:prstGeom>
        </p:spPr>
        <p:txBody>
          <a:bodyPr lIns="0" tIns="0" rIns="0" bIns="0" rtlCol="0" anchor="t">
            <a:spAutoFit/>
          </a:bodyPr>
          <a:lstStyle/>
          <a:p>
            <a:pPr marL="0" lvl="0" indent="0" algn="l">
              <a:lnSpc>
                <a:spcPts val="1652"/>
              </a:lnSpc>
            </a:pPr>
            <a:r>
              <a:rPr lang="en-US" sz="1377" spc="-13">
                <a:solidFill>
                  <a:srgbClr val="FFFFFF"/>
                </a:solidFill>
                <a:latin typeface="TT Hoves"/>
                <a:ea typeface="TT Hoves"/>
                <a:cs typeface="TT Hoves"/>
                <a:sym typeface="TT Hoves"/>
              </a:rPr>
              <a:t>Execute gradual traffic migration, monitor performance metrics in real-time, and scale resources dynamically based on inference demand patterns.</a:t>
            </a:r>
          </a:p>
        </p:txBody>
      </p:sp>
      <p:sp>
        <p:nvSpPr>
          <p:cNvPr id="18" name="TextBox 18"/>
          <p:cNvSpPr txBox="1"/>
          <p:nvPr/>
        </p:nvSpPr>
        <p:spPr>
          <a:xfrm>
            <a:off x="13194282" y="8226652"/>
            <a:ext cx="4065018" cy="209550"/>
          </a:xfrm>
          <a:prstGeom prst="rect">
            <a:avLst/>
          </a:prstGeom>
        </p:spPr>
        <p:txBody>
          <a:bodyPr lIns="0" tIns="0" rIns="0" bIns="0" rtlCol="0" anchor="t">
            <a:spAutoFit/>
          </a:bodyPr>
          <a:lstStyle/>
          <a:p>
            <a:pPr marL="0" lvl="0" indent="0" algn="l">
              <a:lnSpc>
                <a:spcPts val="1652"/>
              </a:lnSpc>
            </a:pPr>
            <a:r>
              <a:rPr lang="en-US" sz="1377" spc="-13">
                <a:solidFill>
                  <a:srgbClr val="FFFFFF"/>
                </a:solidFill>
                <a:latin typeface="TT Hoves"/>
                <a:ea typeface="TT Hoves"/>
                <a:cs typeface="TT Hoves"/>
                <a:sym typeface="TT Hoves"/>
              </a:rPr>
              <a:t>PRODUCTION ROLLOUT</a:t>
            </a:r>
          </a:p>
        </p:txBody>
      </p:sp>
      <p:sp>
        <p:nvSpPr>
          <p:cNvPr id="19" name="TextBox 19"/>
          <p:cNvSpPr txBox="1"/>
          <p:nvPr/>
        </p:nvSpPr>
        <p:spPr>
          <a:xfrm>
            <a:off x="15177518" y="1153801"/>
            <a:ext cx="2507869" cy="177852"/>
          </a:xfrm>
          <a:prstGeom prst="rect">
            <a:avLst/>
          </a:prstGeom>
        </p:spPr>
        <p:txBody>
          <a:bodyPr lIns="0" tIns="0" rIns="0" bIns="0" rtlCol="0" anchor="t">
            <a:spAutoFit/>
          </a:bodyPr>
          <a:lstStyle/>
          <a:p>
            <a:pPr marL="0" lvl="0" indent="0" algn="l">
              <a:lnSpc>
                <a:spcPts val="1377"/>
              </a:lnSpc>
            </a:pPr>
            <a:r>
              <a:rPr lang="en-US" sz="1377">
                <a:solidFill>
                  <a:srgbClr val="FFFFFF"/>
                </a:solidFill>
                <a:latin typeface="TT Autonomous"/>
                <a:ea typeface="TT Autonomous"/>
                <a:cs typeface="TT Autonomous"/>
                <a:sym typeface="TT Autonomous"/>
              </a:rPr>
              <a:t>INFERENCEOPS</a:t>
            </a: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arn(inVertical)">
                                      <p:cBhvr>
                                        <p:cTn id="15" dur="500"/>
                                        <p:tgtEl>
                                          <p:spTgt spid="12"/>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barn(inVertical)">
                                      <p:cBhvr>
                                        <p:cTn id="18" dur="500"/>
                                        <p:tgtEl>
                                          <p:spTgt spid="14"/>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barn(inVertical)">
                                      <p:cBhvr>
                                        <p:cTn id="21" dur="500"/>
                                        <p:tgtEl>
                                          <p:spTgt spid="15"/>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barn(inVertical)">
                                      <p:cBhvr>
                                        <p:cTn id="24" dur="500"/>
                                        <p:tgtEl>
                                          <p:spTgt spid="16"/>
                                        </p:tgtEl>
                                      </p:cBhvr>
                                    </p:animEffect>
                                  </p:childTnLst>
                                </p:cTn>
                              </p:par>
                              <p:par>
                                <p:cTn id="25" presetID="16" presetClass="entr" presetSubtype="21"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barn(inVertical)">
                                      <p:cBhvr>
                                        <p:cTn id="27" dur="500"/>
                                        <p:tgtEl>
                                          <p:spTgt spid="17"/>
                                        </p:tgtEl>
                                      </p:cBhvr>
                                    </p:animEffect>
                                  </p:childTnLst>
                                </p:cTn>
                              </p:par>
                              <p:par>
                                <p:cTn id="28" presetID="16" presetClass="entr" presetSubtype="21"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barn(inVertical)">
                                      <p:cBhvr>
                                        <p:cTn id="3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4" grpId="0"/>
      <p:bldP spid="15" grpId="0"/>
      <p:bldP spid="16" grpId="0"/>
      <p:bldP spid="17" grpId="0"/>
      <p:bldP spid="18"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3377515"/>
            <a:ext cx="6518290" cy="5880785"/>
            <a:chOff x="0" y="0"/>
            <a:chExt cx="1716751" cy="1548849"/>
          </a:xfrm>
        </p:grpSpPr>
        <p:sp>
          <p:nvSpPr>
            <p:cNvPr id="3" name="Freeform 3"/>
            <p:cNvSpPr/>
            <p:nvPr/>
          </p:nvSpPr>
          <p:spPr>
            <a:xfrm>
              <a:off x="0" y="0"/>
              <a:ext cx="1716751" cy="1548849"/>
            </a:xfrm>
            <a:custGeom>
              <a:avLst/>
              <a:gdLst/>
              <a:ahLst/>
              <a:cxnLst/>
              <a:rect l="l" t="t" r="r" b="b"/>
              <a:pathLst>
                <a:path w="1716751" h="1548849">
                  <a:moveTo>
                    <a:pt x="41570" y="0"/>
                  </a:moveTo>
                  <a:lnTo>
                    <a:pt x="1675181" y="0"/>
                  </a:lnTo>
                  <a:cubicBezTo>
                    <a:pt x="1698140" y="0"/>
                    <a:pt x="1716751" y="18612"/>
                    <a:pt x="1716751" y="41570"/>
                  </a:cubicBezTo>
                  <a:lnTo>
                    <a:pt x="1716751" y="1507278"/>
                  </a:lnTo>
                  <a:cubicBezTo>
                    <a:pt x="1716751" y="1518304"/>
                    <a:pt x="1712371" y="1528877"/>
                    <a:pt x="1704576" y="1536673"/>
                  </a:cubicBezTo>
                  <a:cubicBezTo>
                    <a:pt x="1696780" y="1544469"/>
                    <a:pt x="1686206" y="1548849"/>
                    <a:pt x="1675181" y="1548849"/>
                  </a:cubicBezTo>
                  <a:lnTo>
                    <a:pt x="41570" y="1548849"/>
                  </a:lnTo>
                  <a:cubicBezTo>
                    <a:pt x="30545" y="1548849"/>
                    <a:pt x="19972" y="1544469"/>
                    <a:pt x="12176" y="1536673"/>
                  </a:cubicBezTo>
                  <a:cubicBezTo>
                    <a:pt x="4380" y="1528877"/>
                    <a:pt x="0" y="1518304"/>
                    <a:pt x="0" y="1507278"/>
                  </a:cubicBezTo>
                  <a:lnTo>
                    <a:pt x="0" y="41570"/>
                  </a:lnTo>
                  <a:cubicBezTo>
                    <a:pt x="0" y="30545"/>
                    <a:pt x="4380" y="19972"/>
                    <a:pt x="12176" y="12176"/>
                  </a:cubicBezTo>
                  <a:cubicBezTo>
                    <a:pt x="19972" y="4380"/>
                    <a:pt x="30545" y="0"/>
                    <a:pt x="41570" y="0"/>
                  </a:cubicBezTo>
                  <a:close/>
                </a:path>
              </a:pathLst>
            </a:custGeom>
            <a:solidFill>
              <a:srgbClr val="000000"/>
            </a:solidFill>
            <a:ln w="9525" cap="rnd">
              <a:solidFill>
                <a:srgbClr val="737373"/>
              </a:solidFill>
              <a:prstDash val="solid"/>
              <a:round/>
            </a:ln>
          </p:spPr>
          <p:txBody>
            <a:bodyPr/>
            <a:lstStyle/>
            <a:p>
              <a:endParaRPr lang="en-IN"/>
            </a:p>
          </p:txBody>
        </p:sp>
        <p:sp>
          <p:nvSpPr>
            <p:cNvPr id="4" name="TextBox 4"/>
            <p:cNvSpPr txBox="1"/>
            <p:nvPr/>
          </p:nvSpPr>
          <p:spPr>
            <a:xfrm>
              <a:off x="0" y="19050"/>
              <a:ext cx="1716751" cy="1529799"/>
            </a:xfrm>
            <a:prstGeom prst="rect">
              <a:avLst/>
            </a:prstGeom>
          </p:spPr>
          <p:txBody>
            <a:bodyPr lIns="50800" tIns="50800" rIns="50800" bIns="50800" rtlCol="0" anchor="ctr"/>
            <a:lstStyle/>
            <a:p>
              <a:pPr marL="0" lvl="0" indent="0" algn="ctr">
                <a:lnSpc>
                  <a:spcPts val="1400"/>
                </a:lnSpc>
              </a:pPr>
              <a:endParaRPr/>
            </a:p>
          </p:txBody>
        </p:sp>
      </p:grpSp>
      <p:grpSp>
        <p:nvGrpSpPr>
          <p:cNvPr id="5" name="Group 5"/>
          <p:cNvGrpSpPr/>
          <p:nvPr/>
        </p:nvGrpSpPr>
        <p:grpSpPr>
          <a:xfrm>
            <a:off x="4364543" y="3377515"/>
            <a:ext cx="6364894" cy="5880785"/>
            <a:chOff x="0" y="0"/>
            <a:chExt cx="1508891" cy="1394126"/>
          </a:xfrm>
        </p:grpSpPr>
        <p:sp>
          <p:nvSpPr>
            <p:cNvPr id="6" name="Freeform 6"/>
            <p:cNvSpPr/>
            <p:nvPr/>
          </p:nvSpPr>
          <p:spPr>
            <a:xfrm>
              <a:off x="0" y="0"/>
              <a:ext cx="1508891" cy="1394126"/>
            </a:xfrm>
            <a:custGeom>
              <a:avLst/>
              <a:gdLst/>
              <a:ahLst/>
              <a:cxnLst/>
              <a:rect l="l" t="t" r="r" b="b"/>
              <a:pathLst>
                <a:path w="1508891" h="1394126">
                  <a:moveTo>
                    <a:pt x="639418" y="88095"/>
                  </a:moveTo>
                  <a:lnTo>
                    <a:pt x="639418" y="246210"/>
                  </a:lnTo>
                  <a:cubicBezTo>
                    <a:pt x="639418" y="267140"/>
                    <a:pt x="631966" y="287386"/>
                    <a:pt x="618397" y="303322"/>
                  </a:cubicBezTo>
                  <a:lnTo>
                    <a:pt x="450704" y="500263"/>
                  </a:lnTo>
                  <a:cubicBezTo>
                    <a:pt x="433967" y="519922"/>
                    <a:pt x="409449" y="531250"/>
                    <a:pt x="383630" y="531251"/>
                  </a:cubicBezTo>
                  <a:lnTo>
                    <a:pt x="88095" y="531251"/>
                  </a:lnTo>
                  <a:cubicBezTo>
                    <a:pt x="39444" y="531251"/>
                    <a:pt x="4" y="570689"/>
                    <a:pt x="0" y="619340"/>
                  </a:cubicBezTo>
                  <a:lnTo>
                    <a:pt x="0" y="1306032"/>
                  </a:lnTo>
                  <a:cubicBezTo>
                    <a:pt x="1" y="1354685"/>
                    <a:pt x="39442" y="1394126"/>
                    <a:pt x="88095" y="1394126"/>
                  </a:cubicBezTo>
                  <a:lnTo>
                    <a:pt x="1420796" y="1394126"/>
                  </a:lnTo>
                  <a:cubicBezTo>
                    <a:pt x="1469449" y="1394126"/>
                    <a:pt x="1508890" y="1354685"/>
                    <a:pt x="1508891" y="1306032"/>
                  </a:cubicBezTo>
                  <a:lnTo>
                    <a:pt x="1508891" y="88095"/>
                  </a:lnTo>
                  <a:cubicBezTo>
                    <a:pt x="1508891" y="64731"/>
                    <a:pt x="1499610" y="42323"/>
                    <a:pt x="1483089" y="25802"/>
                  </a:cubicBezTo>
                  <a:cubicBezTo>
                    <a:pt x="1466568" y="9281"/>
                    <a:pt x="1444160" y="0"/>
                    <a:pt x="1420796" y="0"/>
                  </a:cubicBezTo>
                  <a:lnTo>
                    <a:pt x="727513" y="0"/>
                  </a:lnTo>
                  <a:cubicBezTo>
                    <a:pt x="678860" y="0"/>
                    <a:pt x="639418" y="39441"/>
                    <a:pt x="639418" y="88095"/>
                  </a:cubicBezTo>
                  <a:close/>
                </a:path>
              </a:pathLst>
            </a:custGeom>
            <a:blipFill>
              <a:blip r:embed="rId2"/>
              <a:stretch>
                <a:fillRect t="-4116" b="-4116"/>
              </a:stretch>
            </a:blipFill>
          </p:spPr>
          <p:txBody>
            <a:bodyPr/>
            <a:lstStyle/>
            <a:p>
              <a:endParaRPr lang="en-IN"/>
            </a:p>
          </p:txBody>
        </p:sp>
      </p:grpSp>
      <p:grpSp>
        <p:nvGrpSpPr>
          <p:cNvPr id="7" name="Group 7"/>
          <p:cNvGrpSpPr/>
          <p:nvPr/>
        </p:nvGrpSpPr>
        <p:grpSpPr>
          <a:xfrm>
            <a:off x="1552186" y="5624850"/>
            <a:ext cx="2355157" cy="3268404"/>
            <a:chOff x="0" y="0"/>
            <a:chExt cx="364875" cy="506361"/>
          </a:xfrm>
        </p:grpSpPr>
        <p:sp>
          <p:nvSpPr>
            <p:cNvPr id="8" name="Freeform 8"/>
            <p:cNvSpPr/>
            <p:nvPr/>
          </p:nvSpPr>
          <p:spPr>
            <a:xfrm>
              <a:off x="0" y="0"/>
              <a:ext cx="364875" cy="506361"/>
            </a:xfrm>
            <a:custGeom>
              <a:avLst/>
              <a:gdLst/>
              <a:ahLst/>
              <a:cxnLst/>
              <a:rect l="l" t="t" r="r" b="b"/>
              <a:pathLst>
                <a:path w="364875" h="506361">
                  <a:moveTo>
                    <a:pt x="147925" y="0"/>
                  </a:moveTo>
                  <a:lnTo>
                    <a:pt x="216951" y="0"/>
                  </a:lnTo>
                  <a:cubicBezTo>
                    <a:pt x="256183" y="0"/>
                    <a:pt x="293808" y="15585"/>
                    <a:pt x="321549" y="43326"/>
                  </a:cubicBezTo>
                  <a:cubicBezTo>
                    <a:pt x="349291" y="71068"/>
                    <a:pt x="364875" y="108693"/>
                    <a:pt x="364875" y="147925"/>
                  </a:cubicBezTo>
                  <a:lnTo>
                    <a:pt x="364875" y="358436"/>
                  </a:lnTo>
                  <a:cubicBezTo>
                    <a:pt x="364875" y="397669"/>
                    <a:pt x="349291" y="435294"/>
                    <a:pt x="321549" y="463035"/>
                  </a:cubicBezTo>
                  <a:cubicBezTo>
                    <a:pt x="293808" y="490776"/>
                    <a:pt x="256183" y="506361"/>
                    <a:pt x="216951" y="506361"/>
                  </a:cubicBezTo>
                  <a:lnTo>
                    <a:pt x="147925" y="506361"/>
                  </a:lnTo>
                  <a:cubicBezTo>
                    <a:pt x="108693" y="506361"/>
                    <a:pt x="71068" y="490776"/>
                    <a:pt x="43326" y="463035"/>
                  </a:cubicBezTo>
                  <a:cubicBezTo>
                    <a:pt x="15585" y="435294"/>
                    <a:pt x="0" y="397669"/>
                    <a:pt x="0" y="358436"/>
                  </a:cubicBezTo>
                  <a:lnTo>
                    <a:pt x="0" y="147925"/>
                  </a:lnTo>
                  <a:cubicBezTo>
                    <a:pt x="0" y="108693"/>
                    <a:pt x="15585" y="71068"/>
                    <a:pt x="43326" y="43326"/>
                  </a:cubicBezTo>
                  <a:cubicBezTo>
                    <a:pt x="71068" y="15585"/>
                    <a:pt x="108693" y="0"/>
                    <a:pt x="147925" y="0"/>
                  </a:cubicBezTo>
                  <a:close/>
                </a:path>
              </a:pathLst>
            </a:custGeom>
            <a:blipFill>
              <a:blip r:embed="rId3"/>
              <a:stretch>
                <a:fillRect l="-1780" r="-1780"/>
              </a:stretch>
            </a:blipFill>
          </p:spPr>
          <p:txBody>
            <a:bodyPr/>
            <a:lstStyle/>
            <a:p>
              <a:endParaRPr lang="en-IN"/>
            </a:p>
          </p:txBody>
        </p:sp>
      </p:grpSp>
      <p:sp>
        <p:nvSpPr>
          <p:cNvPr id="10" name="TextBox 10"/>
          <p:cNvSpPr txBox="1"/>
          <p:nvPr/>
        </p:nvSpPr>
        <p:spPr>
          <a:xfrm>
            <a:off x="1552186" y="3699374"/>
            <a:ext cx="5519372" cy="519036"/>
          </a:xfrm>
          <a:prstGeom prst="rect">
            <a:avLst/>
          </a:prstGeom>
        </p:spPr>
        <p:txBody>
          <a:bodyPr lIns="0" tIns="0" rIns="0" bIns="0" rtlCol="0" anchor="t">
            <a:spAutoFit/>
          </a:bodyPr>
          <a:lstStyle/>
          <a:p>
            <a:pPr marL="0" lvl="0" indent="0" algn="l">
              <a:lnSpc>
                <a:spcPts val="3921"/>
              </a:lnSpc>
            </a:pPr>
            <a:r>
              <a:rPr lang="en-US" sz="3921" b="1" dirty="0">
                <a:solidFill>
                  <a:srgbClr val="FFFFFF"/>
                </a:solidFill>
                <a:latin typeface="TT Autonomous Bold"/>
                <a:ea typeface="TT Autonomous Bold"/>
                <a:cs typeface="TT Autonomous Bold"/>
                <a:sym typeface="TT Autonomous Bold"/>
              </a:rPr>
              <a:t>PERFORMANCE</a:t>
            </a:r>
          </a:p>
        </p:txBody>
      </p:sp>
      <p:sp>
        <p:nvSpPr>
          <p:cNvPr id="11" name="TextBox 11"/>
          <p:cNvSpPr txBox="1"/>
          <p:nvPr/>
        </p:nvSpPr>
        <p:spPr>
          <a:xfrm>
            <a:off x="1552186" y="4467100"/>
            <a:ext cx="4977129" cy="796063"/>
          </a:xfrm>
          <a:prstGeom prst="rect">
            <a:avLst/>
          </a:prstGeom>
        </p:spPr>
        <p:txBody>
          <a:bodyPr lIns="0" tIns="0" rIns="0" bIns="0" rtlCol="0" anchor="t">
            <a:spAutoFit/>
          </a:bodyPr>
          <a:lstStyle/>
          <a:p>
            <a:pPr marL="0" lvl="0" indent="0" algn="l">
              <a:lnSpc>
                <a:spcPts val="5973"/>
              </a:lnSpc>
            </a:pPr>
            <a:r>
              <a:rPr lang="en-US" sz="5973" dirty="0">
                <a:solidFill>
                  <a:srgbClr val="FFFFFF"/>
                </a:solidFill>
                <a:latin typeface="TT Autonomous"/>
                <a:ea typeface="TT Autonomous"/>
                <a:cs typeface="TT Autonomous"/>
                <a:sym typeface="TT Autonomous"/>
              </a:rPr>
              <a:t>METRICS</a:t>
            </a:r>
          </a:p>
        </p:txBody>
      </p:sp>
      <p:sp>
        <p:nvSpPr>
          <p:cNvPr id="12" name="TextBox 12"/>
          <p:cNvSpPr txBox="1"/>
          <p:nvPr/>
        </p:nvSpPr>
        <p:spPr>
          <a:xfrm>
            <a:off x="11424918" y="1028700"/>
            <a:ext cx="5834382" cy="419100"/>
          </a:xfrm>
          <a:prstGeom prst="rect">
            <a:avLst/>
          </a:prstGeom>
        </p:spPr>
        <p:txBody>
          <a:bodyPr lIns="0" tIns="0" rIns="0" bIns="0" rtlCol="0" anchor="t">
            <a:spAutoFit/>
          </a:bodyPr>
          <a:lstStyle/>
          <a:p>
            <a:pPr marL="0" lvl="0" indent="0" algn="l">
              <a:lnSpc>
                <a:spcPts val="1678"/>
              </a:lnSpc>
              <a:spcBef>
                <a:spcPct val="0"/>
              </a:spcBef>
            </a:pPr>
            <a:r>
              <a:rPr lang="en-US" sz="1399" b="1" i="1" u="none" strike="noStrike" dirty="0">
                <a:solidFill>
                  <a:srgbClr val="FFFFFF"/>
                </a:solidFill>
                <a:latin typeface="TT Hoves Bold Italics"/>
                <a:ea typeface="TT Hoves Bold Italics"/>
                <a:cs typeface="TT Hoves Bold Italics"/>
                <a:sym typeface="TT Hoves Bold Italics"/>
              </a:rPr>
              <a:t>MEASURING THE IMPACT OF DISTRIBUTED DEEP LEARNING INFERENCE</a:t>
            </a:r>
          </a:p>
        </p:txBody>
      </p:sp>
      <p:sp>
        <p:nvSpPr>
          <p:cNvPr id="13" name="TextBox 13"/>
          <p:cNvSpPr txBox="1"/>
          <p:nvPr/>
        </p:nvSpPr>
        <p:spPr>
          <a:xfrm>
            <a:off x="13872742" y="2539448"/>
            <a:ext cx="3386558" cy="628650"/>
          </a:xfrm>
          <a:prstGeom prst="rect">
            <a:avLst/>
          </a:prstGeom>
        </p:spPr>
        <p:txBody>
          <a:bodyPr lIns="0" tIns="0" rIns="0" bIns="0" rtlCol="0" anchor="t">
            <a:spAutoFit/>
          </a:bodyPr>
          <a:lstStyle/>
          <a:p>
            <a:pPr marL="0" lvl="0" indent="0" algn="l">
              <a:lnSpc>
                <a:spcPts val="1678"/>
              </a:lnSpc>
            </a:pPr>
            <a:r>
              <a:rPr lang="en-US" sz="1399" spc="-13" dirty="0">
                <a:solidFill>
                  <a:srgbClr val="FFFFFF"/>
                </a:solidFill>
                <a:latin typeface="TT Hoves"/>
                <a:ea typeface="TT Hoves"/>
                <a:cs typeface="TT Hoves"/>
                <a:sym typeface="TT Hoves"/>
              </a:rPr>
              <a:t>Optimized model partitioning and parallel processing dramatically reduce response times, enabling real-time inference at scale.</a:t>
            </a:r>
          </a:p>
        </p:txBody>
      </p:sp>
      <p:sp>
        <p:nvSpPr>
          <p:cNvPr id="14" name="TextBox 14"/>
          <p:cNvSpPr txBox="1"/>
          <p:nvPr/>
        </p:nvSpPr>
        <p:spPr>
          <a:xfrm>
            <a:off x="13872742" y="2136351"/>
            <a:ext cx="3386558" cy="209550"/>
          </a:xfrm>
          <a:prstGeom prst="rect">
            <a:avLst/>
          </a:prstGeom>
        </p:spPr>
        <p:txBody>
          <a:bodyPr lIns="0" tIns="0" rIns="0" bIns="0" rtlCol="0" anchor="t">
            <a:spAutoFit/>
          </a:bodyPr>
          <a:lstStyle/>
          <a:p>
            <a:pPr marL="0" lvl="0" indent="0" algn="l">
              <a:lnSpc>
                <a:spcPts val="1678"/>
              </a:lnSpc>
            </a:pPr>
            <a:r>
              <a:rPr lang="en-US" sz="1399" spc="-13">
                <a:solidFill>
                  <a:srgbClr val="FFFFFF"/>
                </a:solidFill>
                <a:latin typeface="TT Hoves"/>
                <a:ea typeface="TT Hoves"/>
                <a:cs typeface="TT Hoves"/>
                <a:sym typeface="TT Hoves"/>
              </a:rPr>
              <a:t>LATENCY REDUCTION</a:t>
            </a:r>
          </a:p>
        </p:txBody>
      </p:sp>
      <p:sp>
        <p:nvSpPr>
          <p:cNvPr id="15" name="TextBox 15"/>
          <p:cNvSpPr txBox="1"/>
          <p:nvPr/>
        </p:nvSpPr>
        <p:spPr>
          <a:xfrm>
            <a:off x="11424918" y="2136351"/>
            <a:ext cx="2447824" cy="733531"/>
          </a:xfrm>
          <a:prstGeom prst="rect">
            <a:avLst/>
          </a:prstGeom>
        </p:spPr>
        <p:txBody>
          <a:bodyPr lIns="0" tIns="0" rIns="0" bIns="0" rtlCol="0" anchor="t">
            <a:spAutoFit/>
          </a:bodyPr>
          <a:lstStyle/>
          <a:p>
            <a:pPr marL="0" lvl="0" indent="0" algn="l">
              <a:lnSpc>
                <a:spcPts val="5986"/>
              </a:lnSpc>
            </a:pPr>
            <a:r>
              <a:rPr lang="en-US" sz="4988" spc="-49">
                <a:solidFill>
                  <a:srgbClr val="FFFFFF"/>
                </a:solidFill>
                <a:latin typeface="TT Hoves"/>
                <a:ea typeface="TT Hoves"/>
                <a:cs typeface="TT Hoves"/>
                <a:sym typeface="TT Hoves"/>
              </a:rPr>
              <a:t>85%</a:t>
            </a:r>
          </a:p>
        </p:txBody>
      </p:sp>
      <p:sp>
        <p:nvSpPr>
          <p:cNvPr id="16" name="TextBox 16"/>
          <p:cNvSpPr txBox="1"/>
          <p:nvPr/>
        </p:nvSpPr>
        <p:spPr>
          <a:xfrm>
            <a:off x="13872742" y="4499709"/>
            <a:ext cx="3386558" cy="838200"/>
          </a:xfrm>
          <a:prstGeom prst="rect">
            <a:avLst/>
          </a:prstGeom>
        </p:spPr>
        <p:txBody>
          <a:bodyPr lIns="0" tIns="0" rIns="0" bIns="0" rtlCol="0" anchor="t">
            <a:spAutoFit/>
          </a:bodyPr>
          <a:lstStyle/>
          <a:p>
            <a:pPr marL="0" lvl="0" indent="0" algn="l">
              <a:lnSpc>
                <a:spcPts val="1678"/>
              </a:lnSpc>
            </a:pPr>
            <a:r>
              <a:rPr lang="en-US" sz="1399" spc="-13">
                <a:solidFill>
                  <a:srgbClr val="FFFFFF"/>
                </a:solidFill>
                <a:latin typeface="TT Hoves"/>
                <a:ea typeface="TT Hoves"/>
                <a:cs typeface="TT Hoves"/>
                <a:sym typeface="TT Hoves"/>
              </a:rPr>
              <a:t>Distributed architecture enables massive parallel processing, multiplying inference capacity across GPU clusters and edge nodes.</a:t>
            </a:r>
          </a:p>
        </p:txBody>
      </p:sp>
      <p:sp>
        <p:nvSpPr>
          <p:cNvPr id="17" name="TextBox 17"/>
          <p:cNvSpPr txBox="1"/>
          <p:nvPr/>
        </p:nvSpPr>
        <p:spPr>
          <a:xfrm>
            <a:off x="13872742" y="4096612"/>
            <a:ext cx="3386558" cy="209550"/>
          </a:xfrm>
          <a:prstGeom prst="rect">
            <a:avLst/>
          </a:prstGeom>
        </p:spPr>
        <p:txBody>
          <a:bodyPr lIns="0" tIns="0" rIns="0" bIns="0" rtlCol="0" anchor="t">
            <a:spAutoFit/>
          </a:bodyPr>
          <a:lstStyle/>
          <a:p>
            <a:pPr marL="0" lvl="0" indent="0" algn="l">
              <a:lnSpc>
                <a:spcPts val="1678"/>
              </a:lnSpc>
            </a:pPr>
            <a:r>
              <a:rPr lang="en-US" sz="1399" spc="-13">
                <a:solidFill>
                  <a:srgbClr val="FFFFFF"/>
                </a:solidFill>
                <a:latin typeface="TT Hoves"/>
                <a:ea typeface="TT Hoves"/>
                <a:cs typeface="TT Hoves"/>
                <a:sym typeface="TT Hoves"/>
              </a:rPr>
              <a:t>THROUGHPUT INCREASE</a:t>
            </a:r>
          </a:p>
        </p:txBody>
      </p:sp>
      <p:sp>
        <p:nvSpPr>
          <p:cNvPr id="18" name="TextBox 18"/>
          <p:cNvSpPr txBox="1"/>
          <p:nvPr/>
        </p:nvSpPr>
        <p:spPr>
          <a:xfrm>
            <a:off x="11424918" y="4096612"/>
            <a:ext cx="2447824" cy="733531"/>
          </a:xfrm>
          <a:prstGeom prst="rect">
            <a:avLst/>
          </a:prstGeom>
        </p:spPr>
        <p:txBody>
          <a:bodyPr lIns="0" tIns="0" rIns="0" bIns="0" rtlCol="0" anchor="t">
            <a:spAutoFit/>
          </a:bodyPr>
          <a:lstStyle/>
          <a:p>
            <a:pPr marL="0" lvl="0" indent="0" algn="l">
              <a:lnSpc>
                <a:spcPts val="5986"/>
              </a:lnSpc>
            </a:pPr>
            <a:r>
              <a:rPr lang="en-US" sz="4988" spc="-49">
                <a:solidFill>
                  <a:srgbClr val="FFFFFF"/>
                </a:solidFill>
                <a:latin typeface="TT Hoves"/>
                <a:ea typeface="TT Hoves"/>
                <a:cs typeface="TT Hoves"/>
                <a:sym typeface="TT Hoves"/>
              </a:rPr>
              <a:t>10X</a:t>
            </a:r>
          </a:p>
        </p:txBody>
      </p:sp>
      <p:sp>
        <p:nvSpPr>
          <p:cNvPr id="19" name="TextBox 19"/>
          <p:cNvSpPr txBox="1"/>
          <p:nvPr/>
        </p:nvSpPr>
        <p:spPr>
          <a:xfrm>
            <a:off x="13872742" y="6459971"/>
            <a:ext cx="3386558" cy="628650"/>
          </a:xfrm>
          <a:prstGeom prst="rect">
            <a:avLst/>
          </a:prstGeom>
        </p:spPr>
        <p:txBody>
          <a:bodyPr lIns="0" tIns="0" rIns="0" bIns="0" rtlCol="0" anchor="t">
            <a:spAutoFit/>
          </a:bodyPr>
          <a:lstStyle/>
          <a:p>
            <a:pPr marL="0" lvl="0" indent="0" algn="l">
              <a:lnSpc>
                <a:spcPts val="1678"/>
              </a:lnSpc>
            </a:pPr>
            <a:r>
              <a:rPr lang="en-US" sz="1399" spc="-13">
                <a:solidFill>
                  <a:srgbClr val="FFFFFF"/>
                </a:solidFill>
                <a:latin typeface="TT Hoves"/>
                <a:ea typeface="TT Hoves"/>
                <a:cs typeface="TT Hoves"/>
                <a:sym typeface="TT Hoves"/>
              </a:rPr>
              <a:t>Intelligent resource allocation and auto-scaling minimize idle compute time, significantly reducing operational expenses.</a:t>
            </a:r>
          </a:p>
        </p:txBody>
      </p:sp>
      <p:sp>
        <p:nvSpPr>
          <p:cNvPr id="20" name="TextBox 20"/>
          <p:cNvSpPr txBox="1"/>
          <p:nvPr/>
        </p:nvSpPr>
        <p:spPr>
          <a:xfrm>
            <a:off x="13872742" y="6056874"/>
            <a:ext cx="3386558" cy="209550"/>
          </a:xfrm>
          <a:prstGeom prst="rect">
            <a:avLst/>
          </a:prstGeom>
        </p:spPr>
        <p:txBody>
          <a:bodyPr lIns="0" tIns="0" rIns="0" bIns="0" rtlCol="0" anchor="t">
            <a:spAutoFit/>
          </a:bodyPr>
          <a:lstStyle/>
          <a:p>
            <a:pPr marL="0" lvl="0" indent="0" algn="l">
              <a:lnSpc>
                <a:spcPts val="1678"/>
              </a:lnSpc>
            </a:pPr>
            <a:r>
              <a:rPr lang="en-US" sz="1399" spc="-13">
                <a:solidFill>
                  <a:srgbClr val="FFFFFF"/>
                </a:solidFill>
                <a:latin typeface="TT Hoves"/>
                <a:ea typeface="TT Hoves"/>
                <a:cs typeface="TT Hoves"/>
                <a:sym typeface="TT Hoves"/>
              </a:rPr>
              <a:t>COST SAVINGS</a:t>
            </a:r>
          </a:p>
        </p:txBody>
      </p:sp>
      <p:sp>
        <p:nvSpPr>
          <p:cNvPr id="21" name="TextBox 21"/>
          <p:cNvSpPr txBox="1"/>
          <p:nvPr/>
        </p:nvSpPr>
        <p:spPr>
          <a:xfrm>
            <a:off x="11424918" y="6056874"/>
            <a:ext cx="2447824" cy="733531"/>
          </a:xfrm>
          <a:prstGeom prst="rect">
            <a:avLst/>
          </a:prstGeom>
        </p:spPr>
        <p:txBody>
          <a:bodyPr lIns="0" tIns="0" rIns="0" bIns="0" rtlCol="0" anchor="t">
            <a:spAutoFit/>
          </a:bodyPr>
          <a:lstStyle/>
          <a:p>
            <a:pPr marL="0" lvl="0" indent="0" algn="l">
              <a:lnSpc>
                <a:spcPts val="5986"/>
              </a:lnSpc>
            </a:pPr>
            <a:r>
              <a:rPr lang="en-US" sz="4988" spc="-49">
                <a:solidFill>
                  <a:srgbClr val="FFFFFF"/>
                </a:solidFill>
                <a:latin typeface="TT Hoves"/>
                <a:ea typeface="TT Hoves"/>
                <a:cs typeface="TT Hoves"/>
                <a:sym typeface="TT Hoves"/>
              </a:rPr>
              <a:t>60%</a:t>
            </a:r>
          </a:p>
        </p:txBody>
      </p:sp>
      <p:sp>
        <p:nvSpPr>
          <p:cNvPr id="22" name="TextBox 22"/>
          <p:cNvSpPr txBox="1"/>
          <p:nvPr/>
        </p:nvSpPr>
        <p:spPr>
          <a:xfrm>
            <a:off x="13872742" y="8420232"/>
            <a:ext cx="3386558" cy="838200"/>
          </a:xfrm>
          <a:prstGeom prst="rect">
            <a:avLst/>
          </a:prstGeom>
        </p:spPr>
        <p:txBody>
          <a:bodyPr lIns="0" tIns="0" rIns="0" bIns="0" rtlCol="0" anchor="t">
            <a:spAutoFit/>
          </a:bodyPr>
          <a:lstStyle/>
          <a:p>
            <a:pPr marL="0" lvl="0" indent="0" algn="l">
              <a:lnSpc>
                <a:spcPts val="1678"/>
              </a:lnSpc>
            </a:pPr>
            <a:r>
              <a:rPr lang="en-US" sz="1399" spc="-13">
                <a:solidFill>
                  <a:srgbClr val="FFFFFF"/>
                </a:solidFill>
                <a:latin typeface="TT Hoves"/>
                <a:ea typeface="TT Hoves"/>
                <a:cs typeface="TT Hoves"/>
                <a:sym typeface="TT Hoves"/>
              </a:rPr>
              <a:t>Redundant server architecture with automatic failover ensures continuous availability for mission-critical AI applications.</a:t>
            </a:r>
          </a:p>
        </p:txBody>
      </p:sp>
      <p:sp>
        <p:nvSpPr>
          <p:cNvPr id="23" name="TextBox 23"/>
          <p:cNvSpPr txBox="1"/>
          <p:nvPr/>
        </p:nvSpPr>
        <p:spPr>
          <a:xfrm>
            <a:off x="13872742" y="8017135"/>
            <a:ext cx="3386558" cy="209550"/>
          </a:xfrm>
          <a:prstGeom prst="rect">
            <a:avLst/>
          </a:prstGeom>
        </p:spPr>
        <p:txBody>
          <a:bodyPr lIns="0" tIns="0" rIns="0" bIns="0" rtlCol="0" anchor="t">
            <a:spAutoFit/>
          </a:bodyPr>
          <a:lstStyle/>
          <a:p>
            <a:pPr marL="0" lvl="0" indent="0" algn="l">
              <a:lnSpc>
                <a:spcPts val="1678"/>
              </a:lnSpc>
            </a:pPr>
            <a:r>
              <a:rPr lang="en-US" sz="1399" spc="-13">
                <a:solidFill>
                  <a:srgbClr val="FFFFFF"/>
                </a:solidFill>
                <a:latin typeface="TT Hoves"/>
                <a:ea typeface="TT Hoves"/>
                <a:cs typeface="TT Hoves"/>
                <a:sym typeface="TT Hoves"/>
              </a:rPr>
              <a:t>SYSTEM UPTIME</a:t>
            </a:r>
          </a:p>
        </p:txBody>
      </p:sp>
      <p:sp>
        <p:nvSpPr>
          <p:cNvPr id="24" name="TextBox 24"/>
          <p:cNvSpPr txBox="1"/>
          <p:nvPr/>
        </p:nvSpPr>
        <p:spPr>
          <a:xfrm>
            <a:off x="11424918" y="8017135"/>
            <a:ext cx="2447824" cy="733531"/>
          </a:xfrm>
          <a:prstGeom prst="rect">
            <a:avLst/>
          </a:prstGeom>
        </p:spPr>
        <p:txBody>
          <a:bodyPr lIns="0" tIns="0" rIns="0" bIns="0" rtlCol="0" anchor="t">
            <a:spAutoFit/>
          </a:bodyPr>
          <a:lstStyle/>
          <a:p>
            <a:pPr marL="0" lvl="0" indent="0" algn="l">
              <a:lnSpc>
                <a:spcPts val="5986"/>
              </a:lnSpc>
            </a:pPr>
            <a:r>
              <a:rPr lang="en-US" sz="4988" spc="-49">
                <a:solidFill>
                  <a:srgbClr val="FFFFFF"/>
                </a:solidFill>
                <a:latin typeface="TT Hoves"/>
                <a:ea typeface="TT Hoves"/>
                <a:cs typeface="TT Hoves"/>
                <a:sym typeface="TT Hoves"/>
              </a:rPr>
              <a:t>99.99%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500"/>
                                        <p:tgtEl>
                                          <p:spTgt spid="1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500"/>
                                        <p:tgtEl>
                                          <p:spTgt spid="1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500"/>
                                        <p:tgtEl>
                                          <p:spTgt spid="2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500"/>
                                        <p:tgtEl>
                                          <p:spTgt spid="2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500"/>
                                        <p:tgtEl>
                                          <p:spTgt spid="2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500"/>
                                        <p:tgtEl>
                                          <p:spTgt spid="2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p:bldP spid="18" grpId="0"/>
      <p:bldP spid="19" grpId="0"/>
      <p:bldP spid="20" grpId="0"/>
      <p:bldP spid="21" grpId="0"/>
      <p:bldP spid="22" grpId="0"/>
      <p:bldP spid="23" grpId="0"/>
      <p:bldP spid="24"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0882117" y="1046462"/>
            <a:ext cx="6377183" cy="5246370"/>
            <a:chOff x="0" y="0"/>
            <a:chExt cx="1381939" cy="1136891"/>
          </a:xfrm>
        </p:grpSpPr>
        <p:sp>
          <p:nvSpPr>
            <p:cNvPr id="3" name="Freeform 3"/>
            <p:cNvSpPr/>
            <p:nvPr/>
          </p:nvSpPr>
          <p:spPr>
            <a:xfrm>
              <a:off x="0" y="0"/>
              <a:ext cx="1381939" cy="1136891"/>
            </a:xfrm>
            <a:custGeom>
              <a:avLst/>
              <a:gdLst/>
              <a:ahLst/>
              <a:cxnLst/>
              <a:rect l="l" t="t" r="r" b="b"/>
              <a:pathLst>
                <a:path w="1381939" h="1136891">
                  <a:moveTo>
                    <a:pt x="0" y="124380"/>
                  </a:moveTo>
                  <a:lnTo>
                    <a:pt x="0" y="740734"/>
                  </a:lnTo>
                  <a:cubicBezTo>
                    <a:pt x="0" y="809427"/>
                    <a:pt x="55687" y="865114"/>
                    <a:pt x="124380" y="865114"/>
                  </a:cubicBezTo>
                  <a:lnTo>
                    <a:pt x="267087" y="865114"/>
                  </a:lnTo>
                  <a:cubicBezTo>
                    <a:pt x="303063" y="865114"/>
                    <a:pt x="337276" y="880690"/>
                    <a:pt x="360898" y="907824"/>
                  </a:cubicBezTo>
                  <a:lnTo>
                    <a:pt x="523133" y="1094180"/>
                  </a:lnTo>
                  <a:cubicBezTo>
                    <a:pt x="546755" y="1121314"/>
                    <a:pt x="580969" y="1136891"/>
                    <a:pt x="616944" y="1136891"/>
                  </a:cubicBezTo>
                  <a:lnTo>
                    <a:pt x="1088079" y="1136891"/>
                  </a:lnTo>
                  <a:cubicBezTo>
                    <a:pt x="1123987" y="1136891"/>
                    <a:pt x="1158143" y="1121372"/>
                    <a:pt x="1181763" y="1094326"/>
                  </a:cubicBezTo>
                  <a:lnTo>
                    <a:pt x="1340954" y="912044"/>
                  </a:lnTo>
                  <a:cubicBezTo>
                    <a:pt x="1367377" y="881787"/>
                    <a:pt x="1381939" y="842978"/>
                    <a:pt x="1381939" y="802806"/>
                  </a:cubicBezTo>
                  <a:lnTo>
                    <a:pt x="1381939" y="124380"/>
                  </a:lnTo>
                  <a:cubicBezTo>
                    <a:pt x="1381939" y="91391"/>
                    <a:pt x="1368834" y="59754"/>
                    <a:pt x="1345507" y="36428"/>
                  </a:cubicBezTo>
                  <a:cubicBezTo>
                    <a:pt x="1322180" y="13102"/>
                    <a:pt x="1290542" y="-1"/>
                    <a:pt x="1257554" y="0"/>
                  </a:cubicBezTo>
                  <a:lnTo>
                    <a:pt x="124380" y="0"/>
                  </a:lnTo>
                  <a:cubicBezTo>
                    <a:pt x="55687" y="0"/>
                    <a:pt x="0" y="55687"/>
                    <a:pt x="0" y="124380"/>
                  </a:cubicBezTo>
                  <a:close/>
                </a:path>
              </a:pathLst>
            </a:custGeom>
            <a:blipFill>
              <a:blip r:embed="rId2"/>
              <a:stretch>
                <a:fillRect l="-861" r="-861"/>
              </a:stretch>
            </a:blipFill>
          </p:spPr>
          <p:txBody>
            <a:bodyPr/>
            <a:lstStyle/>
            <a:p>
              <a:endParaRPr lang="en-IN"/>
            </a:p>
          </p:txBody>
        </p:sp>
      </p:grpSp>
      <p:grpSp>
        <p:nvGrpSpPr>
          <p:cNvPr id="4" name="Group 4"/>
          <p:cNvGrpSpPr/>
          <p:nvPr/>
        </p:nvGrpSpPr>
        <p:grpSpPr>
          <a:xfrm>
            <a:off x="5544908" y="6859323"/>
            <a:ext cx="11714392" cy="2398977"/>
            <a:chOff x="0" y="0"/>
            <a:chExt cx="3085272" cy="631829"/>
          </a:xfrm>
        </p:grpSpPr>
        <p:sp>
          <p:nvSpPr>
            <p:cNvPr id="5" name="Freeform 5"/>
            <p:cNvSpPr/>
            <p:nvPr/>
          </p:nvSpPr>
          <p:spPr>
            <a:xfrm>
              <a:off x="0" y="0"/>
              <a:ext cx="3085272" cy="631829"/>
            </a:xfrm>
            <a:custGeom>
              <a:avLst/>
              <a:gdLst/>
              <a:ahLst/>
              <a:cxnLst/>
              <a:rect l="l" t="t" r="r" b="b"/>
              <a:pathLst>
                <a:path w="3085272" h="631829">
                  <a:moveTo>
                    <a:pt x="23131" y="0"/>
                  </a:moveTo>
                  <a:lnTo>
                    <a:pt x="3062141" y="0"/>
                  </a:lnTo>
                  <a:cubicBezTo>
                    <a:pt x="3074916" y="0"/>
                    <a:pt x="3085272" y="10356"/>
                    <a:pt x="3085272" y="23131"/>
                  </a:cubicBezTo>
                  <a:lnTo>
                    <a:pt x="3085272" y="608698"/>
                  </a:lnTo>
                  <a:cubicBezTo>
                    <a:pt x="3085272" y="614833"/>
                    <a:pt x="3082835" y="620716"/>
                    <a:pt x="3078497" y="625054"/>
                  </a:cubicBezTo>
                  <a:cubicBezTo>
                    <a:pt x="3074159" y="629392"/>
                    <a:pt x="3068276" y="631829"/>
                    <a:pt x="3062141" y="631829"/>
                  </a:cubicBezTo>
                  <a:lnTo>
                    <a:pt x="23131" y="631829"/>
                  </a:lnTo>
                  <a:cubicBezTo>
                    <a:pt x="10356" y="631829"/>
                    <a:pt x="0" y="621473"/>
                    <a:pt x="0" y="608698"/>
                  </a:cubicBezTo>
                  <a:lnTo>
                    <a:pt x="0" y="23131"/>
                  </a:lnTo>
                  <a:cubicBezTo>
                    <a:pt x="0" y="10356"/>
                    <a:pt x="10356" y="0"/>
                    <a:pt x="23131" y="0"/>
                  </a:cubicBezTo>
                  <a:close/>
                </a:path>
              </a:pathLst>
            </a:custGeom>
            <a:solidFill>
              <a:srgbClr val="000000"/>
            </a:solidFill>
            <a:ln w="9525" cap="rnd">
              <a:solidFill>
                <a:srgbClr val="737373"/>
              </a:solidFill>
              <a:prstDash val="solid"/>
              <a:round/>
            </a:ln>
          </p:spPr>
          <p:txBody>
            <a:bodyPr/>
            <a:lstStyle/>
            <a:p>
              <a:endParaRPr lang="en-IN"/>
            </a:p>
          </p:txBody>
        </p:sp>
        <p:sp>
          <p:nvSpPr>
            <p:cNvPr id="6" name="TextBox 6"/>
            <p:cNvSpPr txBox="1"/>
            <p:nvPr/>
          </p:nvSpPr>
          <p:spPr>
            <a:xfrm>
              <a:off x="0" y="19050"/>
              <a:ext cx="3085272" cy="612779"/>
            </a:xfrm>
            <a:prstGeom prst="rect">
              <a:avLst/>
            </a:prstGeom>
          </p:spPr>
          <p:txBody>
            <a:bodyPr lIns="50800" tIns="50800" rIns="50800" bIns="50800" rtlCol="0" anchor="ctr"/>
            <a:lstStyle/>
            <a:p>
              <a:pPr marL="0" lvl="0" indent="0" algn="ctr">
                <a:lnSpc>
                  <a:spcPts val="1400"/>
                </a:lnSpc>
              </a:pPr>
              <a:endParaRPr/>
            </a:p>
          </p:txBody>
        </p:sp>
      </p:grpSp>
      <p:grpSp>
        <p:nvGrpSpPr>
          <p:cNvPr id="7" name="Group 7"/>
          <p:cNvGrpSpPr/>
          <p:nvPr/>
        </p:nvGrpSpPr>
        <p:grpSpPr>
          <a:xfrm>
            <a:off x="1028700" y="1046462"/>
            <a:ext cx="3862347" cy="8211838"/>
            <a:chOff x="0" y="0"/>
            <a:chExt cx="598379" cy="1272229"/>
          </a:xfrm>
        </p:grpSpPr>
        <p:sp>
          <p:nvSpPr>
            <p:cNvPr id="8" name="Freeform 8"/>
            <p:cNvSpPr/>
            <p:nvPr/>
          </p:nvSpPr>
          <p:spPr>
            <a:xfrm>
              <a:off x="0" y="0"/>
              <a:ext cx="598379" cy="1272229"/>
            </a:xfrm>
            <a:custGeom>
              <a:avLst/>
              <a:gdLst/>
              <a:ahLst/>
              <a:cxnLst/>
              <a:rect l="l" t="t" r="r" b="b"/>
              <a:pathLst>
                <a:path w="598379" h="1272229">
                  <a:moveTo>
                    <a:pt x="90201" y="0"/>
                  </a:moveTo>
                  <a:lnTo>
                    <a:pt x="508178" y="0"/>
                  </a:lnTo>
                  <a:cubicBezTo>
                    <a:pt x="532101" y="0"/>
                    <a:pt x="555044" y="9503"/>
                    <a:pt x="571959" y="26419"/>
                  </a:cubicBezTo>
                  <a:cubicBezTo>
                    <a:pt x="588875" y="43335"/>
                    <a:pt x="598379" y="66278"/>
                    <a:pt x="598379" y="90201"/>
                  </a:cubicBezTo>
                  <a:lnTo>
                    <a:pt x="598379" y="1182028"/>
                  </a:lnTo>
                  <a:cubicBezTo>
                    <a:pt x="598379" y="1231844"/>
                    <a:pt x="557994" y="1272229"/>
                    <a:pt x="508178" y="1272229"/>
                  </a:cubicBezTo>
                  <a:lnTo>
                    <a:pt x="90201" y="1272229"/>
                  </a:lnTo>
                  <a:cubicBezTo>
                    <a:pt x="40384" y="1272229"/>
                    <a:pt x="0" y="1231844"/>
                    <a:pt x="0" y="1182028"/>
                  </a:cubicBezTo>
                  <a:lnTo>
                    <a:pt x="0" y="90201"/>
                  </a:lnTo>
                  <a:cubicBezTo>
                    <a:pt x="0" y="40384"/>
                    <a:pt x="40384" y="0"/>
                    <a:pt x="90201" y="0"/>
                  </a:cubicBezTo>
                  <a:close/>
                </a:path>
              </a:pathLst>
            </a:custGeom>
            <a:blipFill>
              <a:blip r:embed="rId3"/>
              <a:stretch>
                <a:fillRect l="-10594" r="-10594"/>
              </a:stretch>
            </a:blipFill>
          </p:spPr>
          <p:txBody>
            <a:bodyPr/>
            <a:lstStyle/>
            <a:p>
              <a:endParaRPr lang="en-IN"/>
            </a:p>
          </p:txBody>
        </p:sp>
      </p:grpSp>
      <p:grpSp>
        <p:nvGrpSpPr>
          <p:cNvPr id="9" name="Group 9"/>
          <p:cNvGrpSpPr/>
          <p:nvPr/>
        </p:nvGrpSpPr>
        <p:grpSpPr>
          <a:xfrm>
            <a:off x="5544908" y="1028700"/>
            <a:ext cx="4464175" cy="2324723"/>
            <a:chOff x="0" y="0"/>
            <a:chExt cx="691617" cy="360160"/>
          </a:xfrm>
        </p:grpSpPr>
        <p:sp>
          <p:nvSpPr>
            <p:cNvPr id="10" name="Freeform 10"/>
            <p:cNvSpPr/>
            <p:nvPr/>
          </p:nvSpPr>
          <p:spPr>
            <a:xfrm>
              <a:off x="0" y="0"/>
              <a:ext cx="691617" cy="360160"/>
            </a:xfrm>
            <a:custGeom>
              <a:avLst/>
              <a:gdLst/>
              <a:ahLst/>
              <a:cxnLst/>
              <a:rect l="l" t="t" r="r" b="b"/>
              <a:pathLst>
                <a:path w="691617" h="360160">
                  <a:moveTo>
                    <a:pt x="78040" y="0"/>
                  </a:moveTo>
                  <a:lnTo>
                    <a:pt x="613577" y="0"/>
                  </a:lnTo>
                  <a:cubicBezTo>
                    <a:pt x="634275" y="0"/>
                    <a:pt x="654125" y="8222"/>
                    <a:pt x="668760" y="22858"/>
                  </a:cubicBezTo>
                  <a:cubicBezTo>
                    <a:pt x="683395" y="37493"/>
                    <a:pt x="691617" y="57343"/>
                    <a:pt x="691617" y="78040"/>
                  </a:cubicBezTo>
                  <a:lnTo>
                    <a:pt x="691617" y="282120"/>
                  </a:lnTo>
                  <a:cubicBezTo>
                    <a:pt x="691617" y="325221"/>
                    <a:pt x="656678" y="360160"/>
                    <a:pt x="613577" y="360160"/>
                  </a:cubicBezTo>
                  <a:lnTo>
                    <a:pt x="78040" y="360160"/>
                  </a:lnTo>
                  <a:cubicBezTo>
                    <a:pt x="57343" y="360160"/>
                    <a:pt x="37493" y="351938"/>
                    <a:pt x="22858" y="337303"/>
                  </a:cubicBezTo>
                  <a:cubicBezTo>
                    <a:pt x="8222" y="322668"/>
                    <a:pt x="0" y="302818"/>
                    <a:pt x="0" y="282120"/>
                  </a:cubicBezTo>
                  <a:lnTo>
                    <a:pt x="0" y="78040"/>
                  </a:lnTo>
                  <a:cubicBezTo>
                    <a:pt x="0" y="34940"/>
                    <a:pt x="34940" y="0"/>
                    <a:pt x="78040" y="0"/>
                  </a:cubicBezTo>
                  <a:close/>
                </a:path>
              </a:pathLst>
            </a:custGeom>
            <a:blipFill>
              <a:blip r:embed="rId4"/>
              <a:stretch>
                <a:fillRect t="-4728" b="-4728"/>
              </a:stretch>
            </a:blipFill>
          </p:spPr>
          <p:txBody>
            <a:bodyPr/>
            <a:lstStyle/>
            <a:p>
              <a:endParaRPr lang="en-IN"/>
            </a:p>
          </p:txBody>
        </p:sp>
      </p:grpSp>
      <p:sp>
        <p:nvSpPr>
          <p:cNvPr id="11" name="TextBox 11"/>
          <p:cNvSpPr txBox="1"/>
          <p:nvPr/>
        </p:nvSpPr>
        <p:spPr>
          <a:xfrm>
            <a:off x="5544908" y="4920632"/>
            <a:ext cx="5337210" cy="628624"/>
          </a:xfrm>
          <a:prstGeom prst="rect">
            <a:avLst/>
          </a:prstGeom>
        </p:spPr>
        <p:txBody>
          <a:bodyPr lIns="0" tIns="0" rIns="0" bIns="0" rtlCol="0" anchor="t">
            <a:spAutoFit/>
          </a:bodyPr>
          <a:lstStyle/>
          <a:p>
            <a:pPr marL="0" lvl="0" indent="0" algn="l">
              <a:lnSpc>
                <a:spcPts val="4772"/>
              </a:lnSpc>
            </a:pPr>
            <a:r>
              <a:rPr lang="en-US" sz="4772" b="1" dirty="0">
                <a:solidFill>
                  <a:srgbClr val="FFFFFF"/>
                </a:solidFill>
                <a:latin typeface="TT Autonomous Bold"/>
                <a:ea typeface="TT Autonomous Bold"/>
                <a:cs typeface="TT Autonomous Bold"/>
                <a:sym typeface="TT Autonomous Bold"/>
              </a:rPr>
              <a:t>CASE STUDY</a:t>
            </a:r>
          </a:p>
        </p:txBody>
      </p:sp>
      <p:sp>
        <p:nvSpPr>
          <p:cNvPr id="12" name="TextBox 12"/>
          <p:cNvSpPr txBox="1"/>
          <p:nvPr/>
        </p:nvSpPr>
        <p:spPr>
          <a:xfrm>
            <a:off x="5544908" y="5678268"/>
            <a:ext cx="7047495" cy="817001"/>
          </a:xfrm>
          <a:prstGeom prst="rect">
            <a:avLst/>
          </a:prstGeom>
        </p:spPr>
        <p:txBody>
          <a:bodyPr lIns="0" tIns="0" rIns="0" bIns="0" rtlCol="0" anchor="t">
            <a:spAutoFit/>
          </a:bodyPr>
          <a:lstStyle/>
          <a:p>
            <a:pPr marL="0" lvl="0" indent="0" algn="l">
              <a:lnSpc>
                <a:spcPts val="6160"/>
              </a:lnSpc>
            </a:pPr>
            <a:r>
              <a:rPr lang="en-US" sz="6160">
                <a:solidFill>
                  <a:srgbClr val="FFFFFF"/>
                </a:solidFill>
                <a:latin typeface="TT Autonomous"/>
                <a:ea typeface="TT Autonomous"/>
                <a:cs typeface="TT Autonomous"/>
                <a:sym typeface="TT Autonomous"/>
              </a:rPr>
              <a:t>RESULTS</a:t>
            </a:r>
          </a:p>
        </p:txBody>
      </p:sp>
      <p:sp>
        <p:nvSpPr>
          <p:cNvPr id="13" name="TextBox 13"/>
          <p:cNvSpPr txBox="1"/>
          <p:nvPr/>
        </p:nvSpPr>
        <p:spPr>
          <a:xfrm>
            <a:off x="8032084" y="7834055"/>
            <a:ext cx="4065018" cy="628650"/>
          </a:xfrm>
          <a:prstGeom prst="rect">
            <a:avLst/>
          </a:prstGeom>
        </p:spPr>
        <p:txBody>
          <a:bodyPr lIns="0" tIns="0" rIns="0" bIns="0" rtlCol="0" anchor="t">
            <a:spAutoFit/>
          </a:bodyPr>
          <a:lstStyle/>
          <a:p>
            <a:pPr marL="0" lvl="0" indent="0" algn="l">
              <a:lnSpc>
                <a:spcPts val="1678"/>
              </a:lnSpc>
            </a:pPr>
            <a:r>
              <a:rPr lang="en-US" sz="1399" spc="-13">
                <a:solidFill>
                  <a:srgbClr val="FFFFFF"/>
                </a:solidFill>
                <a:latin typeface="TT Hoves"/>
                <a:ea typeface="TT Hoves"/>
                <a:cs typeface="TT Hoves"/>
                <a:sym typeface="TT Hoves"/>
              </a:rPr>
              <a:t>Achieved 5ms p99 latency through optimized model sharding, intelligent request routing, and GPU memory pooling across distributed inference nodes.</a:t>
            </a:r>
          </a:p>
        </p:txBody>
      </p:sp>
      <p:sp>
        <p:nvSpPr>
          <p:cNvPr id="14" name="TextBox 14"/>
          <p:cNvSpPr txBox="1"/>
          <p:nvPr/>
        </p:nvSpPr>
        <p:spPr>
          <a:xfrm>
            <a:off x="6146787" y="7445501"/>
            <a:ext cx="1388455" cy="628650"/>
          </a:xfrm>
          <a:prstGeom prst="rect">
            <a:avLst/>
          </a:prstGeom>
        </p:spPr>
        <p:txBody>
          <a:bodyPr lIns="0" tIns="0" rIns="0" bIns="0" rtlCol="0" anchor="t">
            <a:spAutoFit/>
          </a:bodyPr>
          <a:lstStyle/>
          <a:p>
            <a:pPr marL="0" lvl="0" indent="0" algn="l">
              <a:lnSpc>
                <a:spcPts val="1678"/>
              </a:lnSpc>
              <a:spcBef>
                <a:spcPct val="0"/>
              </a:spcBef>
            </a:pPr>
            <a:r>
              <a:rPr lang="en-US" sz="1399" b="1" i="1" u="none" strike="noStrike">
                <a:solidFill>
                  <a:srgbClr val="FFFFFF"/>
                </a:solidFill>
                <a:latin typeface="TT Hoves Bold Italics"/>
                <a:ea typeface="TT Hoves Bold Italics"/>
                <a:cs typeface="TT Hoves Bold Italics"/>
                <a:sym typeface="TT Hoves Bold Italics"/>
              </a:rPr>
              <a:t>ENTERPRISE DEPLOYMENT METRICS</a:t>
            </a:r>
          </a:p>
        </p:txBody>
      </p:sp>
      <p:sp>
        <p:nvSpPr>
          <p:cNvPr id="15" name="TextBox 15"/>
          <p:cNvSpPr txBox="1"/>
          <p:nvPr/>
        </p:nvSpPr>
        <p:spPr>
          <a:xfrm>
            <a:off x="8032084" y="7445501"/>
            <a:ext cx="4065018" cy="209550"/>
          </a:xfrm>
          <a:prstGeom prst="rect">
            <a:avLst/>
          </a:prstGeom>
        </p:spPr>
        <p:txBody>
          <a:bodyPr lIns="0" tIns="0" rIns="0" bIns="0" rtlCol="0" anchor="t">
            <a:spAutoFit/>
          </a:bodyPr>
          <a:lstStyle/>
          <a:p>
            <a:pPr marL="0" lvl="0" indent="0" algn="l">
              <a:lnSpc>
                <a:spcPts val="1678"/>
              </a:lnSpc>
            </a:pPr>
            <a:r>
              <a:rPr lang="en-US" sz="1399" spc="-13">
                <a:solidFill>
                  <a:srgbClr val="FFFFFF"/>
                </a:solidFill>
                <a:latin typeface="TT Hoves"/>
                <a:ea typeface="TT Hoves"/>
                <a:cs typeface="TT Hoves"/>
                <a:sym typeface="TT Hoves"/>
              </a:rPr>
              <a:t>LATENCY PERFORMANCE</a:t>
            </a:r>
          </a:p>
        </p:txBody>
      </p:sp>
      <p:sp>
        <p:nvSpPr>
          <p:cNvPr id="16" name="TextBox 16"/>
          <p:cNvSpPr txBox="1"/>
          <p:nvPr/>
        </p:nvSpPr>
        <p:spPr>
          <a:xfrm>
            <a:off x="12592403" y="7834055"/>
            <a:ext cx="4065018" cy="838200"/>
          </a:xfrm>
          <a:prstGeom prst="rect">
            <a:avLst/>
          </a:prstGeom>
        </p:spPr>
        <p:txBody>
          <a:bodyPr lIns="0" tIns="0" rIns="0" bIns="0" rtlCol="0" anchor="t">
            <a:spAutoFit/>
          </a:bodyPr>
          <a:lstStyle/>
          <a:p>
            <a:pPr marL="0" lvl="0" indent="0" algn="l">
              <a:lnSpc>
                <a:spcPts val="1678"/>
              </a:lnSpc>
            </a:pPr>
            <a:r>
              <a:rPr lang="en-US" sz="1399" spc="-13">
                <a:solidFill>
                  <a:srgbClr val="FFFFFF"/>
                </a:solidFill>
                <a:latin typeface="TT Hoves"/>
                <a:ea typeface="TT Hoves"/>
                <a:cs typeface="TT Hoves"/>
                <a:sym typeface="TT Hoves"/>
              </a:rPr>
              <a:t>Maintained 99.99% availability with automatic failover, health monitoring, and rolling updates ensuring zero-downtime deployments across global data centers.</a:t>
            </a:r>
          </a:p>
        </p:txBody>
      </p:sp>
      <p:sp>
        <p:nvSpPr>
          <p:cNvPr id="17" name="TextBox 17"/>
          <p:cNvSpPr txBox="1"/>
          <p:nvPr/>
        </p:nvSpPr>
        <p:spPr>
          <a:xfrm>
            <a:off x="12592403" y="7445501"/>
            <a:ext cx="4065018" cy="209550"/>
          </a:xfrm>
          <a:prstGeom prst="rect">
            <a:avLst/>
          </a:prstGeom>
        </p:spPr>
        <p:txBody>
          <a:bodyPr lIns="0" tIns="0" rIns="0" bIns="0" rtlCol="0" anchor="t">
            <a:spAutoFit/>
          </a:bodyPr>
          <a:lstStyle/>
          <a:p>
            <a:pPr marL="0" lvl="0" indent="0" algn="l">
              <a:lnSpc>
                <a:spcPts val="1678"/>
              </a:lnSpc>
            </a:pPr>
            <a:r>
              <a:rPr lang="en-US" sz="1399" spc="-13">
                <a:solidFill>
                  <a:srgbClr val="FFFFFF"/>
                </a:solidFill>
                <a:latin typeface="TT Hoves"/>
                <a:ea typeface="TT Hoves"/>
                <a:cs typeface="TT Hoves"/>
                <a:sym typeface="TT Hoves"/>
              </a:rPr>
              <a:t>SYSTEM RELIABILITY</a:t>
            </a:r>
          </a:p>
        </p:txBody>
      </p:sp>
      <p:sp>
        <p:nvSpPr>
          <p:cNvPr id="18" name="TextBox 18"/>
          <p:cNvSpPr txBox="1"/>
          <p:nvPr/>
        </p:nvSpPr>
        <p:spPr>
          <a:xfrm>
            <a:off x="5544908" y="3924923"/>
            <a:ext cx="2507869" cy="349860"/>
          </a:xfrm>
          <a:prstGeom prst="rect">
            <a:avLst/>
          </a:prstGeom>
        </p:spPr>
        <p:txBody>
          <a:bodyPr lIns="0" tIns="0" rIns="0" bIns="0" rtlCol="0" anchor="t">
            <a:spAutoFit/>
          </a:bodyPr>
          <a:lstStyle/>
          <a:p>
            <a:pPr marL="0" lvl="0" indent="0" algn="l">
              <a:lnSpc>
                <a:spcPts val="1399"/>
              </a:lnSpc>
            </a:pPr>
            <a:r>
              <a:rPr lang="en-US" sz="1399">
                <a:solidFill>
                  <a:srgbClr val="FFFFFF"/>
                </a:solidFill>
                <a:latin typeface="TT Autonomous"/>
                <a:ea typeface="TT Autonomous"/>
                <a:cs typeface="TT Autonomous"/>
                <a:sym typeface="TT Autonomous"/>
              </a:rPr>
              <a:t>ENTERPRISE PERFORMANCE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mph" presetSubtype="0" fill="hold" grpId="0" nodeType="clickEffect">
                                  <p:stCondLst>
                                    <p:cond delay="0"/>
                                  </p:stCondLst>
                                  <p:childTnLst>
                                    <p:animClr clrSpc="hsl" dir="cw">
                                      <p:cBhvr override="childStyle">
                                        <p:cTn id="6" dur="500" fill="hold"/>
                                        <p:tgtEl>
                                          <p:spTgt spid="11"/>
                                        </p:tgtEl>
                                        <p:attrNameLst>
                                          <p:attrName>style.color</p:attrName>
                                        </p:attrNameLst>
                                      </p:cBhvr>
                                      <p:by>
                                        <p:hsl h="0" s="-12549" l="-25098"/>
                                      </p:by>
                                    </p:animClr>
                                    <p:animClr clrSpc="hsl" dir="cw">
                                      <p:cBhvr>
                                        <p:cTn id="7" dur="500" fill="hold"/>
                                        <p:tgtEl>
                                          <p:spTgt spid="11"/>
                                        </p:tgtEl>
                                        <p:attrNameLst>
                                          <p:attrName>fillcolor</p:attrName>
                                        </p:attrNameLst>
                                      </p:cBhvr>
                                      <p:by>
                                        <p:hsl h="0" s="-12549" l="-25098"/>
                                      </p:by>
                                    </p:animClr>
                                    <p:animClr clrSpc="hsl" dir="cw">
                                      <p:cBhvr>
                                        <p:cTn id="8" dur="500" fill="hold"/>
                                        <p:tgtEl>
                                          <p:spTgt spid="11"/>
                                        </p:tgtEl>
                                        <p:attrNameLst>
                                          <p:attrName>stroke.color</p:attrName>
                                        </p:attrNameLst>
                                      </p:cBhvr>
                                      <p:by>
                                        <p:hsl h="0" s="-12549" l="-25098"/>
                                      </p:by>
                                    </p:animClr>
                                    <p:set>
                                      <p:cBhvr>
                                        <p:cTn id="9" dur="500" fill="hold"/>
                                        <p:tgtEl>
                                          <p:spTgt spid="11"/>
                                        </p:tgtEl>
                                        <p:attrNameLst>
                                          <p:attrName>fill.type</p:attrName>
                                        </p:attrNameLst>
                                      </p:cBhvr>
                                      <p:to>
                                        <p:strVal val="solid"/>
                                      </p:to>
                                    </p:set>
                                  </p:childTnLst>
                                </p:cTn>
                              </p:par>
                              <p:par>
                                <p:cTn id="10" presetID="24" presetClass="emph" presetSubtype="0" fill="hold" grpId="0" nodeType="withEffect">
                                  <p:stCondLst>
                                    <p:cond delay="0"/>
                                  </p:stCondLst>
                                  <p:childTnLst>
                                    <p:animClr clrSpc="hsl" dir="cw">
                                      <p:cBhvr override="childStyle">
                                        <p:cTn id="11" dur="500" fill="hold"/>
                                        <p:tgtEl>
                                          <p:spTgt spid="12"/>
                                        </p:tgtEl>
                                        <p:attrNameLst>
                                          <p:attrName>style.color</p:attrName>
                                        </p:attrNameLst>
                                      </p:cBhvr>
                                      <p:by>
                                        <p:hsl h="0" s="-12549" l="-25098"/>
                                      </p:by>
                                    </p:animClr>
                                    <p:animClr clrSpc="hsl" dir="cw">
                                      <p:cBhvr>
                                        <p:cTn id="12" dur="500" fill="hold"/>
                                        <p:tgtEl>
                                          <p:spTgt spid="12"/>
                                        </p:tgtEl>
                                        <p:attrNameLst>
                                          <p:attrName>fillcolor</p:attrName>
                                        </p:attrNameLst>
                                      </p:cBhvr>
                                      <p:by>
                                        <p:hsl h="0" s="-12549" l="-25098"/>
                                      </p:by>
                                    </p:animClr>
                                    <p:animClr clrSpc="hsl" dir="cw">
                                      <p:cBhvr>
                                        <p:cTn id="13" dur="500" fill="hold"/>
                                        <p:tgtEl>
                                          <p:spTgt spid="12"/>
                                        </p:tgtEl>
                                        <p:attrNameLst>
                                          <p:attrName>stroke.color</p:attrName>
                                        </p:attrNameLst>
                                      </p:cBhvr>
                                      <p:by>
                                        <p:hsl h="0" s="-12549" l="-25098"/>
                                      </p:by>
                                    </p:animClr>
                                    <p:set>
                                      <p:cBhvr>
                                        <p:cTn id="14" dur="500" fill="hold"/>
                                        <p:tgtEl>
                                          <p:spTgt spid="12"/>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1000"/>
                                        <p:tgtEl>
                                          <p:spTgt spid="13"/>
                                        </p:tgtEl>
                                      </p:cBhvr>
                                    </p:animEffect>
                                    <p:anim calcmode="lin" valueType="num">
                                      <p:cBhvr>
                                        <p:cTn id="25" dur="1000" fill="hold"/>
                                        <p:tgtEl>
                                          <p:spTgt spid="13"/>
                                        </p:tgtEl>
                                        <p:attrNameLst>
                                          <p:attrName>ppt_x</p:attrName>
                                        </p:attrNameLst>
                                      </p:cBhvr>
                                      <p:tavLst>
                                        <p:tav tm="0">
                                          <p:val>
                                            <p:strVal val="#ppt_x"/>
                                          </p:val>
                                        </p:tav>
                                        <p:tav tm="100000">
                                          <p:val>
                                            <p:strVal val="#ppt_x"/>
                                          </p:val>
                                        </p:tav>
                                      </p:tavLst>
                                    </p:anim>
                                    <p:anim calcmode="lin" valueType="num">
                                      <p:cBhvr>
                                        <p:cTn id="26" dur="1000" fill="hold"/>
                                        <p:tgtEl>
                                          <p:spTgt spid="13"/>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1000"/>
                                        <p:tgtEl>
                                          <p:spTgt spid="14"/>
                                        </p:tgtEl>
                                      </p:cBhvr>
                                    </p:animEffect>
                                    <p:anim calcmode="lin" valueType="num">
                                      <p:cBhvr>
                                        <p:cTn id="30" dur="1000" fill="hold"/>
                                        <p:tgtEl>
                                          <p:spTgt spid="14"/>
                                        </p:tgtEl>
                                        <p:attrNameLst>
                                          <p:attrName>ppt_x</p:attrName>
                                        </p:attrNameLst>
                                      </p:cBhvr>
                                      <p:tavLst>
                                        <p:tav tm="0">
                                          <p:val>
                                            <p:strVal val="#ppt_x"/>
                                          </p:val>
                                        </p:tav>
                                        <p:tav tm="100000">
                                          <p:val>
                                            <p:strVal val="#ppt_x"/>
                                          </p:val>
                                        </p:tav>
                                      </p:tavLst>
                                    </p:anim>
                                    <p:anim calcmode="lin" valueType="num">
                                      <p:cBhvr>
                                        <p:cTn id="31" dur="1000" fill="hold"/>
                                        <p:tgtEl>
                                          <p:spTgt spid="14"/>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1000"/>
                                        <p:tgtEl>
                                          <p:spTgt spid="15"/>
                                        </p:tgtEl>
                                      </p:cBhvr>
                                    </p:animEffect>
                                    <p:anim calcmode="lin" valueType="num">
                                      <p:cBhvr>
                                        <p:cTn id="35" dur="1000" fill="hold"/>
                                        <p:tgtEl>
                                          <p:spTgt spid="15"/>
                                        </p:tgtEl>
                                        <p:attrNameLst>
                                          <p:attrName>ppt_x</p:attrName>
                                        </p:attrNameLst>
                                      </p:cBhvr>
                                      <p:tavLst>
                                        <p:tav tm="0">
                                          <p:val>
                                            <p:strVal val="#ppt_x"/>
                                          </p:val>
                                        </p:tav>
                                        <p:tav tm="100000">
                                          <p:val>
                                            <p:strVal val="#ppt_x"/>
                                          </p:val>
                                        </p:tav>
                                      </p:tavLst>
                                    </p:anim>
                                    <p:anim calcmode="lin" valueType="num">
                                      <p:cBhvr>
                                        <p:cTn id="36" dur="1000" fill="hold"/>
                                        <p:tgtEl>
                                          <p:spTgt spid="15"/>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1000"/>
                                        <p:tgtEl>
                                          <p:spTgt spid="16"/>
                                        </p:tgtEl>
                                      </p:cBhvr>
                                    </p:animEffect>
                                    <p:anim calcmode="lin" valueType="num">
                                      <p:cBhvr>
                                        <p:cTn id="40" dur="1000" fill="hold"/>
                                        <p:tgtEl>
                                          <p:spTgt spid="16"/>
                                        </p:tgtEl>
                                        <p:attrNameLst>
                                          <p:attrName>ppt_x</p:attrName>
                                        </p:attrNameLst>
                                      </p:cBhvr>
                                      <p:tavLst>
                                        <p:tav tm="0">
                                          <p:val>
                                            <p:strVal val="#ppt_x"/>
                                          </p:val>
                                        </p:tav>
                                        <p:tav tm="100000">
                                          <p:val>
                                            <p:strVal val="#ppt_x"/>
                                          </p:val>
                                        </p:tav>
                                      </p:tavLst>
                                    </p:anim>
                                    <p:anim calcmode="lin" valueType="num">
                                      <p:cBhvr>
                                        <p:cTn id="41" dur="1000" fill="hold"/>
                                        <p:tgtEl>
                                          <p:spTgt spid="16"/>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1000"/>
                                        <p:tgtEl>
                                          <p:spTgt spid="17"/>
                                        </p:tgtEl>
                                      </p:cBhvr>
                                    </p:animEffect>
                                    <p:anim calcmode="lin" valueType="num">
                                      <p:cBhvr>
                                        <p:cTn id="45" dur="1000" fill="hold"/>
                                        <p:tgtEl>
                                          <p:spTgt spid="17"/>
                                        </p:tgtEl>
                                        <p:attrNameLst>
                                          <p:attrName>ppt_x</p:attrName>
                                        </p:attrNameLst>
                                      </p:cBhvr>
                                      <p:tavLst>
                                        <p:tav tm="0">
                                          <p:val>
                                            <p:strVal val="#ppt_x"/>
                                          </p:val>
                                        </p:tav>
                                        <p:tav tm="100000">
                                          <p:val>
                                            <p:strVal val="#ppt_x"/>
                                          </p:val>
                                        </p:tav>
                                      </p:tavLst>
                                    </p:anim>
                                    <p:anim calcmode="lin" valueType="num">
                                      <p:cBhvr>
                                        <p:cTn id="46"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5" grpId="0"/>
      <p:bldP spid="16" grpId="0"/>
      <p:bldP spid="1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308</TotalTime>
  <Words>616</Words>
  <Application>Microsoft Office PowerPoint</Application>
  <PresentationFormat>Custom</PresentationFormat>
  <Paragraphs>127</Paragraphs>
  <Slides>12</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12</vt:i4>
      </vt:variant>
    </vt:vector>
  </HeadingPairs>
  <TitlesOfParts>
    <vt:vector size="26" baseType="lpstr">
      <vt:lpstr>Arial</vt:lpstr>
      <vt:lpstr>Times New Roman</vt:lpstr>
      <vt:lpstr>Wingdings</vt:lpstr>
      <vt:lpstr>Microsoft YaHei UI Light</vt:lpstr>
      <vt:lpstr>TT Hoves</vt:lpstr>
      <vt:lpstr>ISOCT</vt:lpstr>
      <vt:lpstr>Calibri</vt:lpstr>
      <vt:lpstr>TT Autonomous Bold</vt:lpstr>
      <vt:lpstr>TT Hoves Bold Italics</vt:lpstr>
      <vt:lpstr>Franklin Gothic Book</vt:lpstr>
      <vt:lpstr>ADLaM Display</vt:lpstr>
      <vt:lpstr>ISOCP3</vt:lpstr>
      <vt:lpstr>TT Autonomous</vt:lpstr>
      <vt:lpstr>Office Theme</vt:lpstr>
      <vt:lpstr>PowerPoint Presentation</vt:lpstr>
      <vt:lpstr>PowerPoint Presentation</vt:lpstr>
      <vt:lpstr>PowerPoint Presentation</vt:lpstr>
      <vt:lpstr>PowerPoint Presentation</vt:lpstr>
      <vt:lpstr>ARCHITECTURE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Distributed Deep Learning Inference Server: Master Template Outline</dc:title>
  <dc:creator>krishna_sree</dc:creator>
  <cp:lastModifiedBy>Krishna sri</cp:lastModifiedBy>
  <cp:revision>7</cp:revision>
  <dcterms:created xsi:type="dcterms:W3CDTF">2006-08-16T00:00:00Z</dcterms:created>
  <dcterms:modified xsi:type="dcterms:W3CDTF">2026-04-09T14:52:26Z</dcterms:modified>
  <dc:identifier>DAHF24okRLY</dc:identifier>
</cp:coreProperties>
</file>